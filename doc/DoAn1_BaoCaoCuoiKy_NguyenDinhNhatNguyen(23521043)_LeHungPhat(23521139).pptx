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72" r:id="rId10"/>
    <p:sldId id="273" r:id="rId11"/>
    <p:sldId id="274" r:id="rId12"/>
    <p:sldId id="275" r:id="rId13"/>
    <p:sldId id="277" r:id="rId14"/>
    <p:sldId id="264" r:id="rId15"/>
    <p:sldId id="263" r:id="rId16"/>
    <p:sldId id="278" r:id="rId17"/>
    <p:sldId id="279" r:id="rId18"/>
    <p:sldId id="266" r:id="rId19"/>
    <p:sldId id="267" r:id="rId20"/>
    <p:sldId id="280" r:id="rId21"/>
    <p:sldId id="268" r:id="rId22"/>
    <p:sldId id="269" r:id="rId23"/>
    <p:sldId id="27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B958"/>
    <a:srgbClr val="38EF7D"/>
    <a:srgbClr val="11998E"/>
    <a:srgbClr val="F37335"/>
    <a:srgbClr val="FDC830"/>
    <a:srgbClr val="752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7" autoAdjust="0"/>
    <p:restoredTop sz="88581"/>
  </p:normalViewPr>
  <p:slideViewPr>
    <p:cSldViewPr snapToGrid="0" snapToObjects="1" showGuides="1">
      <p:cViewPr varScale="1">
        <p:scale>
          <a:sx n="89" d="100"/>
          <a:sy n="89" d="100"/>
        </p:scale>
        <p:origin x="90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en-VN" smtClean="0"/>
              <a:t>06/19/2026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662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719B2E-DC3C-7989-BF9C-E418B1F120BA}"/>
              </a:ext>
            </a:extLst>
          </p:cNvPr>
          <p:cNvSpPr/>
          <p:nvPr userDrawn="1"/>
        </p:nvSpPr>
        <p:spPr>
          <a:xfrm>
            <a:off x="-24143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8ED77-1B03-1740-9FA5-C31B68B30520}"/>
              </a:ext>
            </a:extLst>
          </p:cNvPr>
          <p:cNvSpPr/>
          <p:nvPr userDrawn="1"/>
        </p:nvSpPr>
        <p:spPr>
          <a:xfrm flipV="1">
            <a:off x="-31247" y="0"/>
            <a:ext cx="63374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63ACE-37E2-79AD-3312-2CAEC1D54166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394D7-1EFF-FAA3-89F8-A3FE670BE2B5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68A42A-7730-4E7F-BB19-5F94929B0802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55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en-VN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283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309683"/>
            <a:ext cx="3388242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9DDC379-1E06-2848-14F1-C16A9CCE461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0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0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2C0F1-5644-4389-360B-5397956CD38A}"/>
              </a:ext>
            </a:extLst>
          </p:cNvPr>
          <p:cNvSpPr/>
          <p:nvPr userDrawn="1"/>
        </p:nvSpPr>
        <p:spPr>
          <a:xfrm>
            <a:off x="-24143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B0644-6BE5-3A17-CB9E-03CC0ADBCAC3}"/>
              </a:ext>
            </a:extLst>
          </p:cNvPr>
          <p:cNvSpPr/>
          <p:nvPr userDrawn="1"/>
        </p:nvSpPr>
        <p:spPr>
          <a:xfrm flipV="1">
            <a:off x="-31247" y="0"/>
            <a:ext cx="180478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ABA6-14B3-43D2-ED89-BD749E5AF92A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CA6459-D804-2D1E-9BE6-04D9777C2161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48FC94-0045-6DC4-777D-4F5E40C1D399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4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5FA796-6DE2-7146-15EE-C9B175F7F587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88E92E-709B-64D5-4BEC-56AE8C45F3A5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3362" y="561276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VN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01A917-2F30-C5E0-9749-96D2AA3258C3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50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428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434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03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161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75"/>
            <a:ext cx="10980000" cy="84123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01B7-06E2-F246-2BAD-EAF23122D87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2C82-F7CF-516D-BCFE-BD30ECC9EA5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F8FF-3914-88F4-7096-A2992F1DABC0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A1157-FF7F-7C1B-C247-077067BBC02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DAAF6-0642-D0AC-8393-BCA7C5A21D37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C849CBBA-8A36-61D9-7C3A-A5B8C98344BA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895"/>
            <a:ext cx="10980000" cy="98928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7C7FE-91AA-777B-FCF1-8DFE0AC663E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D67D-95A8-A852-CF14-572C6CE00ED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1CB91-0E23-8BF0-4ADC-5082D6650DF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AD86C4-FCFD-9291-27AD-78AEB135B122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207177-F45D-1E4B-327B-7ADB21C03E0D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E418F7BB-B3EC-2462-55FF-B70CB9656121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36FC2-729D-C9CA-CC90-21D4CBEC73A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385C0-495A-0190-FBE8-231CFC660C3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AA5F0-C810-9BFE-4A24-47254E96DDA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F5DC64-C53E-D570-F572-A07974B9F1B5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48359-0185-411D-3829-537B58B51408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25A6CA3-8A6F-8240-FE9F-93A63D7F2742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5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1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48198"/>
            <a:ext cx="4114799" cy="13995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47490"/>
            <a:ext cx="6325038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777068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4E612-1058-8C98-5698-29AC0F96CCF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C02E4-C8F1-CFE1-7D10-8623040C9C7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C53F-A49B-53F0-C3F1-67940636309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11EC5-BDDA-E9D0-4DEA-3DF92537641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0EBB2-4B0D-F995-4530-D9916005BC5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2AB873A6-A6DD-3337-0E8F-2FC03C939D1C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70699"/>
            <a:ext cx="6325038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2E24-BD94-18AA-FD01-31FA7CF5560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A83D-52D2-F989-EF30-67F8142259A4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737FF-EF11-8E07-04CA-FAD856E16DB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20DF5-E25A-3691-7DBA-3D6427D54E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7DE05D-821F-6133-B08D-FBA35FA266C4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AC99D0E8-C446-4E6E-2E7F-3C5E6A007D9D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4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0A23-1328-52C6-A081-D12BD93902E5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E3DD9-51D1-E19D-3E06-90C65EDEDC8F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84F3-1D66-E2E8-E826-723A4E767341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AF201-E1DC-4486-4B93-4B7F751A4654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71496-B352-9AE6-2AFB-7F84245DBA7F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4F0D81A6-FA21-21F6-FF6F-EFBBD913E85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F3936-136F-C194-2C47-66CE68C8B563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ECB53-429D-BB1E-41F9-39259E111926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EFEB-91F7-F4A9-6DC7-57C29D79F9F9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202369-F8E5-A40E-96BF-5D9E8B5F1F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949A0B-E506-5DE7-2A23-C2CA5436DE0A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A797F9EA-0DAE-4EA8-F91E-D25EC18E94F5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2E2EF8C9-F38D-9516-1D87-18E6996ECB8C}"/>
              </a:ext>
            </a:extLst>
          </p:cNvPr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  <a:endParaRPr lang="en-VN" sz="2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19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631ED36-F92A-CE11-0084-292D548DE0CF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4" r:id="rId4"/>
    <p:sldLayoutId id="2147483663" r:id="rId5"/>
    <p:sldLayoutId id="2147483662" r:id="rId6"/>
    <p:sldLayoutId id="2147483661" r:id="rId7"/>
    <p:sldLayoutId id="2147483652" r:id="rId8"/>
    <p:sldLayoutId id="2147483653" r:id="rId9"/>
    <p:sldLayoutId id="2147483654" r:id="rId10"/>
    <p:sldLayoutId id="2147483655" r:id="rId11"/>
    <p:sldLayoutId id="2147483666" r:id="rId12"/>
    <p:sldLayoutId id="2147483665" r:id="rId13"/>
    <p:sldLayoutId id="2147483656" r:id="rId14"/>
    <p:sldLayoutId id="2147483657" r:id="rId15"/>
    <p:sldLayoutId id="2147483658" r:id="rId16"/>
    <p:sldLayoutId id="214748365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bmp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bmp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bmp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ocu.vn/vn/document/truong-dai-hoc-cong-nghe-thong-tin/kien-truc-may-tinh/riscv-important/109501110" TargetMode="External"/><Relationship Id="rId2" Type="http://schemas.openxmlformats.org/officeDocument/2006/relationships/hyperlink" Target="https://courses.grainger.illinois.edu/ece391/sp2025/docs/unpriv-isa-20240411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Govardhan-R/RISCV-Single-Cycle-Processor" TargetMode="External"/><Relationship Id="rId4" Type="http://schemas.openxmlformats.org/officeDocument/2006/relationships/hyperlink" Target="http://www.r-5.org/files/books/computers/hw-layers/hardware/digital-desigh/David_Harris_Sarah_Harris-Digital_Design_and_Computer_Architecture-EN.pdf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NguyenDinhNhatNguyen/RISCV-Multicore-Project.git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29C4-99A1-6E4F-4374-1D5CEAAC4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1081"/>
            <a:ext cx="9144000" cy="1837919"/>
          </a:xfrm>
        </p:spPr>
        <p:txBody>
          <a:bodyPr>
            <a:noAutofit/>
          </a:bodyPr>
          <a:lstStyle/>
          <a:p>
            <a:r>
              <a:rPr lang="en-US" sz="4800" dirty="0"/>
              <a:t>TÌM HIỂU THIẾT KẾ HỆ THỐNG XỬ LÝ ĐA LÕI RISC-V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0914-A039-5855-B5C6-C4237FEC9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4000" y="6005193"/>
            <a:ext cx="9144000" cy="519113"/>
          </a:xfrm>
        </p:spPr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phố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Chí Minh, 06 </a:t>
            </a:r>
            <a:r>
              <a:rPr lang="en-US" dirty="0" err="1"/>
              <a:t>năm</a:t>
            </a:r>
            <a:r>
              <a:rPr lang="en-US" dirty="0"/>
              <a:t> 2026</a:t>
            </a:r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1DE20-70D6-DD65-B1D0-08C5B47A0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0283" y="1217560"/>
            <a:ext cx="2365717" cy="381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1200" dirty="0"/>
              <a:t>ĐỒ ÁN</a:t>
            </a:r>
            <a:endParaRPr lang="en-V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E99C6-9F71-2563-42D3-79554AE1E10D}"/>
              </a:ext>
            </a:extLst>
          </p:cNvPr>
          <p:cNvSpPr txBox="1"/>
          <p:nvPr/>
        </p:nvSpPr>
        <p:spPr>
          <a:xfrm>
            <a:off x="1524000" y="3681350"/>
            <a:ext cx="9144000" cy="219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 err="1">
                <a:solidFill>
                  <a:schemeClr val="accent4"/>
                </a:solidFill>
              </a:rPr>
              <a:t>Giảng</a:t>
            </a:r>
            <a:r>
              <a:rPr lang="en-US" sz="2400" b="1" dirty="0">
                <a:solidFill>
                  <a:schemeClr val="accent4"/>
                </a:solidFill>
              </a:rPr>
              <a:t> </a:t>
            </a:r>
            <a:r>
              <a:rPr lang="en-US" sz="2400" b="1" dirty="0" err="1">
                <a:solidFill>
                  <a:schemeClr val="accent4"/>
                </a:solidFill>
              </a:rPr>
              <a:t>viên</a:t>
            </a:r>
            <a:r>
              <a:rPr lang="en-US" sz="2400" b="1" dirty="0">
                <a:solidFill>
                  <a:schemeClr val="accent4"/>
                </a:solidFill>
              </a:rPr>
              <a:t> </a:t>
            </a:r>
            <a:r>
              <a:rPr lang="en-US" sz="2400" b="1" dirty="0" err="1">
                <a:solidFill>
                  <a:schemeClr val="accent4"/>
                </a:solidFill>
              </a:rPr>
              <a:t>hướng</a:t>
            </a:r>
            <a:r>
              <a:rPr lang="en-US" sz="2400" b="1" dirty="0">
                <a:solidFill>
                  <a:schemeClr val="accent4"/>
                </a:solidFill>
              </a:rPr>
              <a:t> </a:t>
            </a:r>
            <a:r>
              <a:rPr lang="en-US" sz="2400" b="1" dirty="0" err="1">
                <a:solidFill>
                  <a:schemeClr val="accent4"/>
                </a:solidFill>
              </a:rPr>
              <a:t>dẫn</a:t>
            </a:r>
            <a:r>
              <a:rPr lang="en-VN" sz="2400" b="1" dirty="0">
                <a:solidFill>
                  <a:schemeClr val="accent4"/>
                </a:solidFill>
              </a:rPr>
              <a:t>: </a:t>
            </a:r>
            <a:r>
              <a:rPr lang="en-US" sz="2400" b="1" dirty="0" err="1"/>
              <a:t>Ths.Tạ</a:t>
            </a:r>
            <a:r>
              <a:rPr lang="en-US" sz="2400" b="1" dirty="0"/>
              <a:t> Trí Đức</a:t>
            </a:r>
            <a:endParaRPr lang="en-US" sz="2400" b="1" dirty="0">
              <a:solidFill>
                <a:schemeClr val="accent4"/>
              </a:solidFill>
            </a:endParaRP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solidFill>
                  <a:schemeClr val="accent4"/>
                </a:solidFill>
              </a:rPr>
              <a:t>Sinh </a:t>
            </a:r>
            <a:r>
              <a:rPr lang="en-US" sz="2400" b="1" dirty="0" err="1">
                <a:solidFill>
                  <a:schemeClr val="accent4"/>
                </a:solidFill>
              </a:rPr>
              <a:t>viên</a:t>
            </a:r>
            <a:r>
              <a:rPr lang="en-US" sz="2400" b="1" dirty="0">
                <a:solidFill>
                  <a:schemeClr val="accent4"/>
                </a:solidFill>
              </a:rPr>
              <a:t> </a:t>
            </a:r>
            <a:r>
              <a:rPr lang="en-US" sz="2400" b="1" dirty="0" err="1">
                <a:solidFill>
                  <a:schemeClr val="accent4"/>
                </a:solidFill>
              </a:rPr>
              <a:t>thực</a:t>
            </a:r>
            <a:r>
              <a:rPr lang="en-US" sz="2400" b="1" dirty="0">
                <a:solidFill>
                  <a:schemeClr val="accent4"/>
                </a:solidFill>
              </a:rPr>
              <a:t> </a:t>
            </a:r>
            <a:r>
              <a:rPr lang="en-US" sz="2400" b="1" dirty="0" err="1">
                <a:solidFill>
                  <a:schemeClr val="accent4"/>
                </a:solidFill>
              </a:rPr>
              <a:t>hiện</a:t>
            </a:r>
            <a:r>
              <a:rPr lang="en-VN" sz="2400" b="1" dirty="0">
                <a:solidFill>
                  <a:schemeClr val="accent4"/>
                </a:solidFill>
              </a:rPr>
              <a:t>: </a:t>
            </a:r>
            <a:endParaRPr lang="en-US" sz="2400" b="1" dirty="0">
              <a:solidFill>
                <a:schemeClr val="accent4"/>
              </a:solidFill>
            </a:endParaRPr>
          </a:p>
          <a:p>
            <a:pPr marL="342900" indent="-3429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5019675" algn="l"/>
              </a:tabLst>
            </a:pPr>
            <a:r>
              <a:rPr lang="en-US" sz="2400" b="1" dirty="0"/>
              <a:t>Nguyễn Đình Nhật Nguyên</a:t>
            </a:r>
            <a:r>
              <a:rPr lang="en-VN" sz="2400" dirty="0"/>
              <a:t>	</a:t>
            </a:r>
            <a:r>
              <a:rPr lang="en-US" sz="2400" dirty="0"/>
              <a:t>23521043</a:t>
            </a:r>
            <a:endParaRPr lang="en-VN" sz="2400" dirty="0"/>
          </a:p>
          <a:p>
            <a:pPr marL="342900" indent="-3429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5019675" algn="l"/>
              </a:tabLst>
            </a:pPr>
            <a:r>
              <a:rPr lang="en-US" sz="2400" b="1" dirty="0"/>
              <a:t>Lê </a:t>
            </a:r>
            <a:r>
              <a:rPr lang="en-US" sz="2400" b="1" dirty="0" err="1"/>
              <a:t>Hưng</a:t>
            </a:r>
            <a:r>
              <a:rPr lang="en-US" sz="2400" b="1" dirty="0"/>
              <a:t> </a:t>
            </a:r>
            <a:r>
              <a:rPr lang="en-US" sz="2400" b="1" dirty="0" err="1"/>
              <a:t>Phát</a:t>
            </a:r>
            <a:r>
              <a:rPr lang="en-VN" sz="2400" dirty="0"/>
              <a:t>	</a:t>
            </a:r>
            <a:r>
              <a:rPr lang="en-US" sz="2400" dirty="0"/>
              <a:t>23521139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205270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Nội dung báo cáo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7A0637-CEE0-29B3-3E51-8DACCCDE2A10}"/>
              </a:ext>
            </a:extLst>
          </p:cNvPr>
          <p:cNvGrpSpPr/>
          <p:nvPr/>
        </p:nvGrpSpPr>
        <p:grpSpPr>
          <a:xfrm>
            <a:off x="1033164" y="2094865"/>
            <a:ext cx="7770177" cy="948373"/>
            <a:chOff x="1033164" y="2094865"/>
            <a:chExt cx="7770177" cy="94837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F261A7D-28B4-1B84-D8E2-11C9EDDBFA1E}"/>
                </a:ext>
              </a:extLst>
            </p:cNvPr>
            <p:cNvSpPr/>
            <p:nvPr/>
          </p:nvSpPr>
          <p:spPr>
            <a:xfrm>
              <a:off x="1033164" y="2094865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D45351B-999A-54A2-68EA-9E33D3ECF433}"/>
                </a:ext>
              </a:extLst>
            </p:cNvPr>
            <p:cNvSpPr/>
            <p:nvPr/>
          </p:nvSpPr>
          <p:spPr>
            <a:xfrm>
              <a:off x="1193006" y="2265441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VN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EE7FB7-C0E4-A1B4-DB55-6B757C313225}"/>
                </a:ext>
              </a:extLst>
            </p:cNvPr>
            <p:cNvSpPr txBox="1"/>
            <p:nvPr/>
          </p:nvSpPr>
          <p:spPr>
            <a:xfrm>
              <a:off x="1862399" y="2338218"/>
              <a:ext cx="694094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/>
                <a:t>Tổng</a:t>
              </a:r>
              <a:r>
                <a:rPr lang="en-US" sz="2400" dirty="0"/>
                <a:t> </a:t>
              </a:r>
              <a:r>
                <a:rPr lang="en-US" sz="2400" dirty="0" err="1"/>
                <a:t>quan</a:t>
              </a:r>
              <a:r>
                <a:rPr lang="en-US" sz="2400" dirty="0"/>
                <a:t> </a:t>
              </a:r>
              <a:r>
                <a:rPr lang="en-US" sz="2400" dirty="0" err="1"/>
                <a:t>đề</a:t>
              </a:r>
              <a:r>
                <a:rPr lang="en-US" sz="2400" dirty="0"/>
                <a:t> </a:t>
              </a:r>
              <a:r>
                <a:rPr lang="en-US" sz="2400" dirty="0" err="1"/>
                <a:t>tài</a:t>
              </a:r>
              <a:endParaRPr lang="en-VN" sz="2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B93310-8338-04AE-BD6F-ECFF66EFE9D6}"/>
              </a:ext>
            </a:extLst>
          </p:cNvPr>
          <p:cNvGrpSpPr/>
          <p:nvPr/>
        </p:nvGrpSpPr>
        <p:grpSpPr>
          <a:xfrm>
            <a:off x="1033164" y="3255196"/>
            <a:ext cx="7770177" cy="948373"/>
            <a:chOff x="1033164" y="3239499"/>
            <a:chExt cx="7770177" cy="94837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F2C7C36-DBA2-4FF8-A24D-527781AE8EE7}"/>
                </a:ext>
              </a:extLst>
            </p:cNvPr>
            <p:cNvSpPr/>
            <p:nvPr/>
          </p:nvSpPr>
          <p:spPr>
            <a:xfrm>
              <a:off x="1033164" y="3239499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accent4">
                <a:lumMod val="75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chemeClr val="bg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EA81DE-5C39-814F-98C8-9799897FAEEB}"/>
                </a:ext>
              </a:extLst>
            </p:cNvPr>
            <p:cNvSpPr/>
            <p:nvPr/>
          </p:nvSpPr>
          <p:spPr>
            <a:xfrm>
              <a:off x="1193005" y="3410075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VN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7C750D-FB6C-0D48-11D1-777CC1189796}"/>
                </a:ext>
              </a:extLst>
            </p:cNvPr>
            <p:cNvSpPr txBox="1"/>
            <p:nvPr/>
          </p:nvSpPr>
          <p:spPr>
            <a:xfrm>
              <a:off x="1862399" y="3482851"/>
              <a:ext cx="660924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>
                  <a:solidFill>
                    <a:schemeClr val="bg1"/>
                  </a:solidFill>
                </a:rPr>
                <a:t>Giải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pháp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đề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xuất</a:t>
              </a:r>
              <a:endParaRPr lang="en-V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F08B0B-13CE-0C19-BAD9-060AC4DD6F08}"/>
              </a:ext>
            </a:extLst>
          </p:cNvPr>
          <p:cNvGrpSpPr/>
          <p:nvPr/>
        </p:nvGrpSpPr>
        <p:grpSpPr>
          <a:xfrm>
            <a:off x="1033164" y="4415527"/>
            <a:ext cx="7770177" cy="948373"/>
            <a:chOff x="1033164" y="4431224"/>
            <a:chExt cx="7770177" cy="948373"/>
          </a:xfrm>
        </p:grpSpPr>
        <p:sp>
          <p:nvSpPr>
            <p:cNvPr id="15" name="Rounded Rectangle 6">
              <a:extLst>
                <a:ext uri="{FF2B5EF4-FFF2-40B4-BE49-F238E27FC236}">
                  <a16:creationId xmlns:a16="http://schemas.microsoft.com/office/drawing/2014/main" id="{F1448787-01D4-9B57-C8D6-4852D1688A7C}"/>
                </a:ext>
              </a:extLst>
            </p:cNvPr>
            <p:cNvSpPr/>
            <p:nvPr/>
          </p:nvSpPr>
          <p:spPr>
            <a:xfrm>
              <a:off x="1033164" y="4431224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80A263-3857-AB29-9ADD-DBB55F785253}"/>
                </a:ext>
              </a:extLst>
            </p:cNvPr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V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889582-D1BF-AA43-C49F-F5B33014116F}"/>
                </a:ext>
              </a:extLst>
            </p:cNvPr>
            <p:cNvSpPr txBox="1"/>
            <p:nvPr/>
          </p:nvSpPr>
          <p:spPr>
            <a:xfrm>
              <a:off x="1862400" y="4674577"/>
              <a:ext cx="660924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/>
                <a:t>Kết</a:t>
              </a:r>
              <a:r>
                <a:rPr lang="en-US" sz="2400" dirty="0"/>
                <a:t> </a:t>
              </a:r>
              <a:r>
                <a:rPr lang="en-US" sz="2400" dirty="0" err="1"/>
                <a:t>quả</a:t>
              </a:r>
              <a:r>
                <a:rPr lang="en-US" sz="2400" dirty="0"/>
                <a:t> </a:t>
              </a:r>
              <a:r>
                <a:rPr lang="en-US" sz="2400" dirty="0" err="1"/>
                <a:t>giải</a:t>
              </a:r>
              <a:r>
                <a:rPr lang="en-US" sz="2400" dirty="0"/>
                <a:t> </a:t>
              </a:r>
              <a:r>
                <a:rPr lang="en-US" sz="2400" dirty="0" err="1"/>
                <a:t>pháp</a:t>
              </a:r>
              <a:r>
                <a:rPr lang="en-US" sz="2400" dirty="0"/>
                <a:t> </a:t>
              </a:r>
              <a:r>
                <a:rPr lang="en-US" sz="2400" dirty="0" err="1"/>
                <a:t>đề</a:t>
              </a:r>
              <a:r>
                <a:rPr lang="en-US" sz="2400" dirty="0"/>
                <a:t> </a:t>
              </a:r>
              <a:r>
                <a:rPr lang="en-US" sz="2400" dirty="0" err="1"/>
                <a:t>xuất</a:t>
              </a:r>
              <a:endParaRPr lang="en-VN" sz="2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FA8A22-CE55-67A8-9AFF-40EDDC95FC03}"/>
              </a:ext>
            </a:extLst>
          </p:cNvPr>
          <p:cNvGrpSpPr/>
          <p:nvPr/>
        </p:nvGrpSpPr>
        <p:grpSpPr>
          <a:xfrm>
            <a:off x="1033164" y="5575858"/>
            <a:ext cx="7770177" cy="948373"/>
            <a:chOff x="1033164" y="5575858"/>
            <a:chExt cx="7770177" cy="948373"/>
          </a:xfrm>
        </p:grpSpPr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A7273024-F982-5A73-BA89-9F231004D90B}"/>
                </a:ext>
              </a:extLst>
            </p:cNvPr>
            <p:cNvSpPr/>
            <p:nvPr/>
          </p:nvSpPr>
          <p:spPr>
            <a:xfrm>
              <a:off x="1033164" y="5575858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accent4">
                <a:lumMod val="75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chemeClr val="bg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E4969A-B312-14CB-795B-054DC3E0FE64}"/>
                </a:ext>
              </a:extLst>
            </p:cNvPr>
            <p:cNvSpPr/>
            <p:nvPr/>
          </p:nvSpPr>
          <p:spPr>
            <a:xfrm>
              <a:off x="1193005" y="5746434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V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7F4F9A-6266-8C8C-2ABD-6DABB3ECE8E4}"/>
                </a:ext>
              </a:extLst>
            </p:cNvPr>
            <p:cNvSpPr txBox="1"/>
            <p:nvPr/>
          </p:nvSpPr>
          <p:spPr>
            <a:xfrm>
              <a:off x="1862399" y="5819210"/>
              <a:ext cx="660924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>
                  <a:solidFill>
                    <a:schemeClr val="bg1"/>
                  </a:solidFill>
                </a:rPr>
                <a:t>Kết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luận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và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hướng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phát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triển</a:t>
              </a:r>
              <a:endParaRPr lang="en-VN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9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TỔNG QUAN</a:t>
            </a:r>
            <a:br>
              <a:rPr lang="en-VN" dirty="0"/>
            </a:br>
            <a:r>
              <a:rPr lang="en-VN" dirty="0"/>
              <a:t>ĐỀ TÀI NGHIÊN CỨU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3363" y="4108231"/>
            <a:ext cx="6940132" cy="741925"/>
          </a:xfrm>
        </p:spPr>
        <p:txBody>
          <a:bodyPr>
            <a:normAutofit/>
          </a:bodyPr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372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7D05-0C4E-A77F-E26E-F3AF1D5B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870357"/>
            <a:ext cx="10980000" cy="890663"/>
          </a:xfrm>
        </p:spPr>
        <p:txBody>
          <a:bodyPr/>
          <a:lstStyle/>
          <a:p>
            <a:r>
              <a:rPr lang="en-VN" dirty="0"/>
              <a:t>1. Tổng quan đề tài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955D-FD4B-EB3E-53CC-9CD6B5478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1594610"/>
            <a:ext cx="10980000" cy="4978312"/>
          </a:xfrm>
        </p:spPr>
        <p:txBody>
          <a:bodyPr>
            <a:noAutofit/>
          </a:bodyPr>
          <a:lstStyle/>
          <a:p>
            <a:r>
              <a:rPr lang="en-US" sz="2000" b="1" dirty="0" err="1">
                <a:latin typeface="+mj-lt"/>
              </a:rPr>
              <a:t>Giới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thiệu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tổng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quan</a:t>
            </a:r>
            <a:r>
              <a:rPr lang="en-US" sz="2000" b="1" dirty="0">
                <a:latin typeface="+mj-lt"/>
              </a:rPr>
              <a:t>:</a:t>
            </a:r>
            <a:endParaRPr lang="en-US" sz="2000" dirty="0">
              <a:latin typeface="+mj-lt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+mj-lt"/>
              </a:rPr>
              <a:t>Sự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phát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triển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mạnh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của</a:t>
            </a:r>
            <a:r>
              <a:rPr lang="en-US" sz="2000" dirty="0">
                <a:latin typeface="+mj-lt"/>
              </a:rPr>
              <a:t> IoT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hệ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thống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nhúng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đòi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hỏi</a:t>
            </a:r>
            <a:r>
              <a:rPr lang="en-US" sz="2000" dirty="0">
                <a:latin typeface="+mj-lt"/>
              </a:rPr>
              <a:t> vi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phải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năng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song </a:t>
            </a:r>
            <a:r>
              <a:rPr lang="en-US" sz="2000" dirty="0" err="1">
                <a:latin typeface="+mj-lt"/>
              </a:rPr>
              <a:t>song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cao</a:t>
            </a:r>
            <a:r>
              <a:rPr lang="en-US" sz="2000" dirty="0">
                <a:latin typeface="+mj-lt"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+mj-lt"/>
              </a:rPr>
              <a:t>Kiến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trúc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lệnh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nguồn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mở</a:t>
            </a:r>
            <a:r>
              <a:rPr lang="en-US" sz="2000" dirty="0">
                <a:latin typeface="+mj-lt"/>
              </a:rPr>
              <a:t> RISC-V </a:t>
            </a:r>
            <a:r>
              <a:rPr lang="en-US" sz="2000" dirty="0" err="1">
                <a:latin typeface="+mj-lt"/>
              </a:rPr>
              <a:t>đang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trở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xu </a:t>
            </a:r>
            <a:r>
              <a:rPr lang="en-US" sz="2000" dirty="0" err="1">
                <a:latin typeface="+mj-lt"/>
              </a:rPr>
              <a:t>hướng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cốt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trong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vi </a:t>
            </a:r>
            <a:r>
              <a:rPr lang="en-US" sz="2000" dirty="0" err="1">
                <a:latin typeface="+mj-lt"/>
              </a:rPr>
              <a:t>mạch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SoC </a:t>
            </a:r>
            <a:r>
              <a:rPr lang="en-US" sz="2000" dirty="0" err="1">
                <a:latin typeface="+mj-lt"/>
              </a:rPr>
              <a:t>Đa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. </a:t>
            </a:r>
            <a:r>
              <a:rPr lang="en-US" sz="1100" dirty="0">
                <a:latin typeface="+mj-lt"/>
              </a:rPr>
              <a:t>[1]</a:t>
            </a:r>
          </a:p>
          <a:p>
            <a:r>
              <a:rPr lang="en-US" sz="2000" b="1" dirty="0" err="1">
                <a:latin typeface="+mj-lt"/>
              </a:rPr>
              <a:t>Vấn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đề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cần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giải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quyết</a:t>
            </a:r>
            <a:r>
              <a:rPr lang="en-US" sz="2000" b="1" dirty="0">
                <a:latin typeface="+mj-lt"/>
              </a:rPr>
              <a:t>:</a:t>
            </a:r>
            <a:endParaRPr lang="en-US" sz="2000" dirty="0">
              <a:latin typeface="+mj-lt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err="1">
                <a:latin typeface="+mj-lt"/>
              </a:rPr>
              <a:t>Nghẽn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phần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cứng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tượng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tắc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nghẽn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thông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dữ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nhiều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một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đường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truyền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vật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. </a:t>
            </a:r>
            <a:r>
              <a:rPr lang="en-US" sz="1100" dirty="0">
                <a:latin typeface="+mj-lt"/>
              </a:rPr>
              <a:t>[2]</a:t>
            </a:r>
            <a:endParaRPr lang="en-US" sz="2000" dirty="0">
              <a:latin typeface="+mj-lt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err="1">
                <a:latin typeface="+mj-lt"/>
              </a:rPr>
              <a:t>Lỗi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phần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mềm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Sự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xung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ghi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đè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dữ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truy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một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nhớ</a:t>
            </a:r>
            <a:r>
              <a:rPr lang="en-US" sz="2000" dirty="0">
                <a:latin typeface="+mj-lt"/>
              </a:rPr>
              <a:t> chia </a:t>
            </a:r>
            <a:r>
              <a:rPr lang="en-US" sz="2000" dirty="0" err="1">
                <a:latin typeface="+mj-lt"/>
              </a:rPr>
              <a:t>sẻ</a:t>
            </a:r>
            <a:r>
              <a:rPr lang="en-US" sz="2000" dirty="0">
                <a:latin typeface="+mj-lt"/>
              </a:rPr>
              <a:t>.</a:t>
            </a:r>
          </a:p>
          <a:p>
            <a:r>
              <a:rPr lang="en-US" sz="2000" b="1" dirty="0" err="1">
                <a:latin typeface="+mj-lt"/>
              </a:rPr>
              <a:t>Tính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cấp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thiết</a:t>
            </a:r>
            <a:r>
              <a:rPr lang="en-US" sz="2000" b="1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Nếu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không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cơ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tiếp</a:t>
            </a:r>
            <a:r>
              <a:rPr lang="en-US" sz="2000" dirty="0">
                <a:latin typeface="+mj-lt"/>
              </a:rPr>
              <a:t> Interconnect </a:t>
            </a:r>
            <a:r>
              <a:rPr lang="en-US" sz="2000" dirty="0" err="1">
                <a:latin typeface="+mj-lt"/>
              </a:rPr>
              <a:t>hiệu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hệ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thống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khóa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đồng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cứng</a:t>
            </a:r>
            <a:r>
              <a:rPr lang="en-US" sz="2000" dirty="0">
                <a:latin typeface="+mj-lt"/>
              </a:rPr>
              <a:t> an </a:t>
            </a:r>
            <a:r>
              <a:rPr lang="en-US" sz="2000" dirty="0" err="1">
                <a:latin typeface="+mj-lt"/>
              </a:rPr>
              <a:t>toàn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kiến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trúc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bị</a:t>
            </a:r>
            <a:r>
              <a:rPr lang="en-US" sz="2000" dirty="0">
                <a:latin typeface="+mj-lt"/>
              </a:rPr>
              <a:t> “</a:t>
            </a:r>
            <a:r>
              <a:rPr lang="en-US" sz="2000" dirty="0" err="1">
                <a:latin typeface="+mj-lt"/>
              </a:rPr>
              <a:t>thắt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cổ</a:t>
            </a:r>
            <a:r>
              <a:rPr lang="en-US" sz="2000" dirty="0">
                <a:latin typeface="+mj-lt"/>
              </a:rPr>
              <a:t> chai” </a:t>
            </a:r>
            <a:r>
              <a:rPr lang="en-US" sz="2000" dirty="0" err="1">
                <a:latin typeface="+mj-lt"/>
              </a:rPr>
              <a:t>hiệu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suất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hoặc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dẫn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đến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treo</a:t>
            </a:r>
            <a:r>
              <a:rPr lang="en-US" sz="2000" dirty="0">
                <a:latin typeface="+mj-lt"/>
              </a:rPr>
              <a:t> CPU.</a:t>
            </a:r>
          </a:p>
          <a:p>
            <a:pPr marL="0" indent="0">
              <a:buNone/>
            </a:pPr>
            <a:endParaRPr lang="en-VN" sz="23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B323D-3E60-D198-26D8-C64C76E6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58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4B94-FEF6-237B-8557-7B68C25E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3B32-DA49-3BD8-11FE-F00C1C9F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876749"/>
            <a:ext cx="10980000" cy="890663"/>
          </a:xfrm>
        </p:spPr>
        <p:txBody>
          <a:bodyPr/>
          <a:lstStyle/>
          <a:p>
            <a:r>
              <a:rPr lang="en-VN" dirty="0"/>
              <a:t>1. Tổng quan đề tài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68BFF-D924-23DB-9AAF-490DEEA2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1607394"/>
            <a:ext cx="10980000" cy="40834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+mj-lt"/>
              </a:rPr>
              <a:t>Mục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tiêu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đề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tài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kiểm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chứng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công</a:t>
            </a:r>
            <a:r>
              <a:rPr lang="en-US" sz="2000" dirty="0">
                <a:latin typeface="+mj-lt"/>
              </a:rPr>
              <a:t> SoC Vi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với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tiêu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cụ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thể</a:t>
            </a:r>
            <a:r>
              <a:rPr lang="en-US" sz="2000" dirty="0">
                <a:latin typeface="+mj-lt"/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err="1">
                <a:latin typeface="+mj-lt"/>
              </a:rPr>
              <a:t>Về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lõi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xử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lý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Hoàn </a:t>
            </a:r>
            <a:r>
              <a:rPr lang="en-US" sz="2000" dirty="0" err="1">
                <a:latin typeface="+mj-lt"/>
              </a:rPr>
              <a:t>thiện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ưu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hóa</a:t>
            </a:r>
            <a:r>
              <a:rPr lang="en-US" sz="2000" dirty="0">
                <a:latin typeface="+mj-lt"/>
              </a:rPr>
              <a:t> 2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CPU </a:t>
            </a:r>
            <a:r>
              <a:rPr lang="en-US" sz="2000" dirty="0" err="1">
                <a:latin typeface="+mj-lt"/>
              </a:rPr>
              <a:t>theo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chuẩn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lệnh</a:t>
            </a:r>
            <a:r>
              <a:rPr lang="en-US" sz="2000" dirty="0">
                <a:latin typeface="+mj-lt"/>
              </a:rPr>
              <a:t> RISC-V (RV32I) Single-Cycle.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err="1">
                <a:latin typeface="+mj-lt"/>
              </a:rPr>
              <a:t>Về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giao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tiếp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mạng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Tích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hợp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công</a:t>
            </a:r>
            <a:r>
              <a:rPr lang="en-US" sz="2000" dirty="0">
                <a:latin typeface="+mj-lt"/>
              </a:rPr>
              <a:t> Ma </a:t>
            </a:r>
            <a:r>
              <a:rPr lang="en-US" sz="2000" dirty="0" err="1">
                <a:latin typeface="+mj-lt"/>
              </a:rPr>
              <a:t>trận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chuyển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mạch</a:t>
            </a:r>
            <a:r>
              <a:rPr lang="en-US" sz="2000" dirty="0">
                <a:latin typeface="+mj-lt"/>
              </a:rPr>
              <a:t> Crossbar 2x3 </a:t>
            </a:r>
            <a:r>
              <a:rPr lang="en-US" sz="2000" dirty="0" err="1">
                <a:latin typeface="+mj-lt"/>
              </a:rPr>
              <a:t>cùng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phân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Round-Robin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thay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thế</a:t>
            </a:r>
            <a:r>
              <a:rPr lang="en-US" sz="2000" dirty="0">
                <a:latin typeface="+mj-lt"/>
              </a:rPr>
              <a:t> Bus </a:t>
            </a:r>
            <a:r>
              <a:rPr lang="en-US" sz="2000" dirty="0" err="1">
                <a:latin typeface="+mj-lt"/>
              </a:rPr>
              <a:t>dùng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chung</a:t>
            </a:r>
            <a:r>
              <a:rPr lang="en-US" sz="2000" dirty="0">
                <a:latin typeface="+mj-lt"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err="1">
                <a:latin typeface="+mj-lt"/>
              </a:rPr>
              <a:t>Về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đồng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bộ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hóa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thực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hóa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khối</a:t>
            </a:r>
            <a:r>
              <a:rPr lang="en-US" sz="2000" dirty="0">
                <a:latin typeface="+mj-lt"/>
              </a:rPr>
              <a:t> Inter-Core Controller (ICC)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khóa</a:t>
            </a:r>
            <a:r>
              <a:rPr lang="en-US" sz="2000" dirty="0">
                <a:latin typeface="+mj-lt"/>
              </a:rPr>
              <a:t> Hardware Mutex </a:t>
            </a:r>
            <a:r>
              <a:rPr lang="en-US" sz="2000" dirty="0" err="1">
                <a:latin typeface="+mj-lt"/>
              </a:rPr>
              <a:t>nguyên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tử</a:t>
            </a:r>
            <a:r>
              <a:rPr lang="en-US" sz="2000" dirty="0">
                <a:latin typeface="+mj-lt"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err="1">
                <a:latin typeface="+mj-lt"/>
              </a:rPr>
              <a:t>Về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phần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mềm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Biên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dịch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chạy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công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kịch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bản</a:t>
            </a:r>
            <a:r>
              <a:rPr lang="en-US" sz="2000" dirty="0">
                <a:latin typeface="+mj-lt"/>
              </a:rPr>
              <a:t> Firmware C++ </a:t>
            </a:r>
            <a:r>
              <a:rPr lang="en-US" sz="2000" dirty="0" err="1">
                <a:latin typeface="+mj-lt"/>
              </a:rPr>
              <a:t>sử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dụng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thuật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toán</a:t>
            </a:r>
            <a:r>
              <a:rPr lang="en-US" sz="2000" dirty="0">
                <a:latin typeface="+mj-lt"/>
              </a:rPr>
              <a:t> Spinlock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minh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chứng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năng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bảo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vệ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vùng</a:t>
            </a:r>
            <a:r>
              <a:rPr lang="en-US" sz="2000" dirty="0">
                <a:latin typeface="+mj-lt"/>
              </a:rPr>
              <a:t> gang.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03CAA-DCAE-10FA-84DA-46170675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4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GIẢI PHÁP ĐỀ XUẤT</a:t>
            </a:r>
            <a:br>
              <a:rPr lang="en-VN" dirty="0"/>
            </a:br>
            <a:r>
              <a:rPr lang="en-VN" dirty="0"/>
              <a:t>CỦA ĐỀ TÀI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7103363" cy="741925"/>
          </a:xfrm>
        </p:spPr>
        <p:txBody>
          <a:bodyPr>
            <a:normAutofit/>
          </a:bodyPr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541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F85-E9DC-CE6F-1505-4F1261E3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879762"/>
            <a:ext cx="5149341" cy="890663"/>
          </a:xfrm>
        </p:spPr>
        <p:txBody>
          <a:bodyPr/>
          <a:lstStyle/>
          <a:p>
            <a:r>
              <a:rPr lang="en-VN" dirty="0"/>
              <a:t>2. Giải pháp đề xuất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342" y="2954333"/>
            <a:ext cx="11687315" cy="2076935"/>
          </a:xfrm>
        </p:spPr>
        <p:txBody>
          <a:bodyPr anchor="ctr">
            <a:noAutofit/>
          </a:bodyPr>
          <a:lstStyle/>
          <a:p>
            <a:r>
              <a:rPr lang="en-US" sz="2400" b="1" dirty="0" err="1">
                <a:latin typeface="+mj-lt"/>
              </a:rPr>
              <a:t>Cấu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trúc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lõi</a:t>
            </a:r>
            <a:r>
              <a:rPr lang="en-US" sz="2400" b="1" dirty="0">
                <a:latin typeface="+mj-lt"/>
              </a:rPr>
              <a:t>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Kiến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trúc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đơn</a:t>
            </a:r>
            <a:r>
              <a:rPr lang="en-US" sz="2400" dirty="0">
                <a:latin typeface="+mj-lt"/>
              </a:rPr>
              <a:t> chu </a:t>
            </a:r>
            <a:r>
              <a:rPr lang="en-US" sz="2400" dirty="0" err="1">
                <a:latin typeface="+mj-lt"/>
              </a:rPr>
              <a:t>kỳ</a:t>
            </a:r>
            <a:r>
              <a:rPr lang="en-US" sz="2400" dirty="0">
                <a:latin typeface="+mj-lt"/>
              </a:rPr>
              <a:t> (Single-Cycle Datapath) </a:t>
            </a:r>
            <a:r>
              <a:rPr lang="en-US" sz="2400" dirty="0" err="1">
                <a:latin typeface="+mj-lt"/>
              </a:rPr>
              <a:t>dựa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trên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chuẩn</a:t>
            </a:r>
            <a:r>
              <a:rPr lang="en-US" sz="2400" dirty="0">
                <a:latin typeface="+mj-lt"/>
              </a:rPr>
              <a:t> ISA RV321. </a:t>
            </a:r>
            <a:r>
              <a:rPr lang="en-US" sz="1100" dirty="0">
                <a:latin typeface="+mj-lt"/>
              </a:rPr>
              <a:t>[1][3]</a:t>
            </a:r>
          </a:p>
          <a:p>
            <a:r>
              <a:rPr lang="en-US" sz="2400" b="1" dirty="0" err="1">
                <a:latin typeface="+mj-lt"/>
              </a:rPr>
              <a:t>Tối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ưu</a:t>
            </a:r>
            <a:r>
              <a:rPr lang="en-US" sz="2400" b="1" dirty="0">
                <a:latin typeface="+mj-lt"/>
              </a:rPr>
              <a:t> ALU: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Ưu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tiên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dịch</a:t>
            </a:r>
            <a:r>
              <a:rPr lang="en-US" sz="2400" dirty="0">
                <a:latin typeface="+mj-lt"/>
              </a:rPr>
              <a:t> bit </a:t>
            </a:r>
            <a:r>
              <a:rPr lang="en-US" sz="2400" dirty="0" err="1">
                <a:latin typeface="+mj-lt"/>
              </a:rPr>
              <a:t>thay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vì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nhân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cứng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để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tiết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kiệm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diện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tích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 err="1">
                <a:latin typeface="+mj-lt"/>
              </a:rPr>
              <a:t>Vá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lỗi</a:t>
            </a:r>
            <a:r>
              <a:rPr lang="en-US" sz="2400" b="1" dirty="0">
                <a:latin typeface="+mj-lt"/>
              </a:rPr>
              <a:t> Base-Code: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Sửa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lại</a:t>
            </a:r>
            <a:r>
              <a:rPr lang="en-US" sz="2400" dirty="0">
                <a:latin typeface="+mj-lt"/>
              </a:rPr>
              <a:t> logic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khối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Giải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mã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để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thực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chuẩn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lệnh</a:t>
            </a:r>
            <a:r>
              <a:rPr lang="en-US" sz="2400" dirty="0">
                <a:latin typeface="+mj-lt"/>
              </a:rPr>
              <a:t> JALR, BNE, LUI </a:t>
            </a:r>
            <a:r>
              <a:rPr lang="en-US" sz="2400" dirty="0" err="1">
                <a:latin typeface="+mj-lt"/>
              </a:rPr>
              <a:t>từ</a:t>
            </a:r>
            <a:r>
              <a:rPr lang="en-US" sz="2400" dirty="0">
                <a:latin typeface="+mj-lt"/>
              </a:rPr>
              <a:t> Base-Code. </a:t>
            </a:r>
            <a:r>
              <a:rPr lang="en-US" sz="1100" dirty="0">
                <a:latin typeface="+mj-lt"/>
              </a:rPr>
              <a:t>[4]</a:t>
            </a:r>
            <a:endParaRPr lang="en-US" sz="2400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44CF3-BA57-AB19-A11B-359F8671FB50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E1A8055-339A-6750-EAC7-B5143FC600E5}"/>
              </a:ext>
            </a:extLst>
          </p:cNvPr>
          <p:cNvSpPr txBox="1">
            <a:spLocks/>
          </p:cNvSpPr>
          <p:nvPr/>
        </p:nvSpPr>
        <p:spPr>
          <a:xfrm>
            <a:off x="1194098" y="1637945"/>
            <a:ext cx="3679120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Kiến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vi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RV32I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583363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17" y="2522913"/>
            <a:ext cx="3754419" cy="3280690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latin typeface="+mj-lt"/>
              </a:rPr>
              <a:t>Hạn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chế</a:t>
            </a:r>
            <a:r>
              <a:rPr lang="en-US" sz="2400" b="1" dirty="0">
                <a:latin typeface="+mj-lt"/>
              </a:rPr>
              <a:t> Shared Bus: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Gây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nghẽn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băng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thông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và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độ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trễ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cao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khi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tăng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số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lõi</a:t>
            </a:r>
            <a:r>
              <a:rPr lang="en-US" sz="2400" dirty="0">
                <a:latin typeface="+mj-lt"/>
              </a:rPr>
              <a:t>. </a:t>
            </a:r>
            <a:r>
              <a:rPr lang="en-US" sz="1050" dirty="0">
                <a:latin typeface="+mj-lt"/>
              </a:rPr>
              <a:t>[2] </a:t>
            </a:r>
          </a:p>
          <a:p>
            <a:r>
              <a:rPr lang="en-US" sz="2400" b="1" dirty="0" err="1">
                <a:latin typeface="+mj-lt"/>
              </a:rPr>
              <a:t>Ưu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thế</a:t>
            </a:r>
            <a:r>
              <a:rPr lang="en-US" sz="2400" b="1" dirty="0">
                <a:latin typeface="+mj-lt"/>
              </a:rPr>
              <a:t> Crossbar 2x3: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Tạo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nhiều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đường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truyền</a:t>
            </a:r>
            <a:r>
              <a:rPr lang="en-US" sz="2400" dirty="0">
                <a:latin typeface="+mj-lt"/>
              </a:rPr>
              <a:t> song </a:t>
            </a:r>
            <a:r>
              <a:rPr lang="en-US" sz="2400" dirty="0" err="1">
                <a:latin typeface="+mj-lt"/>
              </a:rPr>
              <a:t>song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độc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lập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không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gây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nghẽn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mạch</a:t>
            </a:r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DFF2B9-4DC6-7649-B3FF-D97C2C485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81"/>
          <a:stretch>
            <a:fillRect/>
          </a:stretch>
        </p:blipFill>
        <p:spPr>
          <a:xfrm>
            <a:off x="4283058" y="2151921"/>
            <a:ext cx="7217146" cy="42044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259247-9D69-C73D-8FDB-EBB432364E9F}"/>
              </a:ext>
            </a:extLst>
          </p:cNvPr>
          <p:cNvCxnSpPr>
            <a:cxnSpLocks/>
          </p:cNvCxnSpPr>
          <p:nvPr/>
        </p:nvCxnSpPr>
        <p:spPr>
          <a:xfrm flipH="1">
            <a:off x="8323993" y="2013490"/>
            <a:ext cx="18230" cy="3257757"/>
          </a:xfrm>
          <a:prstGeom prst="line">
            <a:avLst/>
          </a:prstGeom>
          <a:ln w="22225" cap="rnd">
            <a:solidFill>
              <a:schemeClr val="accent3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7507EB27-9B33-B320-A3E3-FDE3166158B8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514934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/>
              <a:t>2. Giải pháp đề xuất</a:t>
            </a:r>
            <a:endParaRPr lang="en-V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F3F313-DB73-3712-50B0-5357B045BFBB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A6BA164-28BC-241A-17CB-8D61156376DB}"/>
              </a:ext>
            </a:extLst>
          </p:cNvPr>
          <p:cNvSpPr txBox="1">
            <a:spLocks/>
          </p:cNvSpPr>
          <p:nvPr/>
        </p:nvSpPr>
        <p:spPr>
          <a:xfrm>
            <a:off x="1194098" y="1632250"/>
            <a:ext cx="4298872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Kiến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Interconnect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273798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528D-CA5C-2DD1-729C-2E293709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45B7C-7B08-C32C-6579-D0D0CBA9C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4" y="2700758"/>
            <a:ext cx="4206242" cy="2473473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 err="1">
                <a:latin typeface="+mj-lt"/>
              </a:rPr>
              <a:t>Lớp</a:t>
            </a:r>
            <a:r>
              <a:rPr lang="en-US" sz="2400" b="1" dirty="0">
                <a:latin typeface="+mj-lt"/>
              </a:rPr>
              <a:t> Master:</a:t>
            </a:r>
            <a:r>
              <a:rPr lang="en-US" sz="2400" dirty="0">
                <a:latin typeface="+mj-lt"/>
              </a:rPr>
              <a:t> 2 </a:t>
            </a:r>
            <a:r>
              <a:rPr lang="en-US" sz="2400" dirty="0" err="1">
                <a:latin typeface="+mj-lt"/>
              </a:rPr>
              <a:t>lõi</a:t>
            </a:r>
            <a:r>
              <a:rPr lang="en-US" sz="2400" dirty="0">
                <a:latin typeface="+mj-lt"/>
              </a:rPr>
              <a:t> CPU </a:t>
            </a:r>
            <a:r>
              <a:rPr lang="en-US" sz="2400" dirty="0" err="1">
                <a:latin typeface="+mj-lt"/>
              </a:rPr>
              <a:t>sở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hữu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nhớ</a:t>
            </a:r>
            <a:r>
              <a:rPr lang="en-US" sz="2400" dirty="0">
                <a:latin typeface="+mj-lt"/>
              </a:rPr>
              <a:t> ROM </a:t>
            </a:r>
            <a:r>
              <a:rPr lang="en-US" sz="2400" dirty="0" err="1">
                <a:latin typeface="+mj-lt"/>
              </a:rPr>
              <a:t>nạp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lệnh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hoàn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toàn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độc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lập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 err="1">
                <a:latin typeface="+mj-lt"/>
              </a:rPr>
              <a:t>Lớp</a:t>
            </a:r>
            <a:r>
              <a:rPr lang="en-US" sz="2400" b="1" dirty="0">
                <a:latin typeface="+mj-lt"/>
              </a:rPr>
              <a:t> Interconnect: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Khối</a:t>
            </a:r>
            <a:r>
              <a:rPr lang="en-US" sz="2400" dirty="0">
                <a:latin typeface="+mj-lt"/>
              </a:rPr>
              <a:t> ma </a:t>
            </a:r>
            <a:r>
              <a:rPr lang="en-US" sz="2400" dirty="0" err="1">
                <a:latin typeface="+mj-lt"/>
              </a:rPr>
              <a:t>trận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chuyển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mạch</a:t>
            </a:r>
            <a:r>
              <a:rPr lang="en-US" sz="2400" dirty="0">
                <a:latin typeface="+mj-lt"/>
              </a:rPr>
              <a:t> Crossbar </a:t>
            </a:r>
            <a:r>
              <a:rPr lang="en-US" sz="2400" dirty="0" err="1">
                <a:latin typeface="+mj-lt"/>
              </a:rPr>
              <a:t>tích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hợp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phân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xử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 err="1">
                <a:latin typeface="+mj-lt"/>
              </a:rPr>
              <a:t>Lớp</a:t>
            </a:r>
            <a:r>
              <a:rPr lang="en-US" sz="2400" b="1" dirty="0">
                <a:latin typeface="+mj-lt"/>
              </a:rPr>
              <a:t> Slave: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Gồm</a:t>
            </a:r>
            <a:r>
              <a:rPr lang="en-US" sz="2400" dirty="0">
                <a:latin typeface="+mj-lt"/>
              </a:rPr>
              <a:t> 2 </a:t>
            </a:r>
            <a:r>
              <a:rPr lang="en-US" sz="2400" dirty="0" err="1">
                <a:latin typeface="+mj-lt"/>
              </a:rPr>
              <a:t>vùng</a:t>
            </a:r>
            <a:r>
              <a:rPr lang="en-US" sz="2400" dirty="0">
                <a:latin typeface="+mj-lt"/>
              </a:rPr>
              <a:t> shared RAM </a:t>
            </a:r>
            <a:r>
              <a:rPr lang="en-US" sz="2400" dirty="0" err="1">
                <a:latin typeface="+mj-lt"/>
              </a:rPr>
              <a:t>độc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lập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và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điều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khiển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liên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lõi</a:t>
            </a:r>
            <a:r>
              <a:rPr lang="en-US" sz="2400" dirty="0">
                <a:latin typeface="+mj-lt"/>
              </a:rPr>
              <a:t> ICC.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DF37D-77D7-A854-82E3-30515AAC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48D69B-45FE-1671-41B1-8D2348A34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1" t="10353" r="3238"/>
          <a:stretch>
            <a:fillRect/>
          </a:stretch>
        </p:blipFill>
        <p:spPr>
          <a:xfrm>
            <a:off x="4475107" y="2046908"/>
            <a:ext cx="7319437" cy="417215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B327EA-AC53-793D-0556-89EE229794EE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514934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/>
              <a:t>2. Giải pháp đề xuất</a:t>
            </a:r>
            <a:endParaRPr lang="en-V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E29EF5-3586-F6D6-1526-D7D102A5E501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42785A-68AD-004C-50CE-DD22A5A6903F}"/>
              </a:ext>
            </a:extLst>
          </p:cNvPr>
          <p:cNvSpPr txBox="1">
            <a:spLocks/>
          </p:cNvSpPr>
          <p:nvPr/>
        </p:nvSpPr>
        <p:spPr>
          <a:xfrm>
            <a:off x="1194098" y="1632250"/>
            <a:ext cx="2829270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408753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CC8A8-E77C-FC56-FF1F-EDE791B7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FB0C7-D248-E6E9-F03B-A5AA18AF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3" y="2700758"/>
            <a:ext cx="4227757" cy="2473473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 err="1">
                <a:latin typeface="+mj-lt"/>
              </a:rPr>
              <a:t>Đường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truyền</a:t>
            </a:r>
            <a:r>
              <a:rPr lang="en-US" sz="2400" b="1" dirty="0">
                <a:latin typeface="+mj-lt"/>
              </a:rPr>
              <a:t>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Tách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biệt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luồng</a:t>
            </a:r>
            <a:r>
              <a:rPr lang="en-US" sz="2400" dirty="0">
                <a:latin typeface="+mj-lt"/>
              </a:rPr>
              <a:t> Address, Write Data, Read Data, Control </a:t>
            </a:r>
            <a:r>
              <a:rPr lang="en-US" sz="2400" dirty="0" err="1">
                <a:latin typeface="+mj-lt"/>
              </a:rPr>
              <a:t>của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từng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lõi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>
                <a:latin typeface="+mj-lt"/>
              </a:rPr>
              <a:t>Logic MUX: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Sử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dụng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Multiplexer </a:t>
            </a:r>
            <a:r>
              <a:rPr lang="en-US" sz="2400" dirty="0" err="1">
                <a:latin typeface="+mj-lt"/>
              </a:rPr>
              <a:t>đa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ngõ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vào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điều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khiển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trực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tiếp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bằng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cờ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phân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xử</a:t>
            </a:r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8E447-DD99-6476-DFE6-F3F9A25E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0E713C-0D36-E978-CEC0-50079DE285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4" t="12239" r="3911"/>
          <a:stretch>
            <a:fillRect/>
          </a:stretch>
        </p:blipFill>
        <p:spPr>
          <a:xfrm>
            <a:off x="4233564" y="1900714"/>
            <a:ext cx="7917631" cy="40735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68B09A5-864C-FD00-E491-D6A5F0CFCC33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514934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 dirty="0"/>
              <a:t>2. Giải pháp đề xuất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D807C2-EF64-FCD8-DFD2-DD3989E12ADF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F77D2B7-81D8-A4F5-BA0E-9B2B2A32020D}"/>
              </a:ext>
            </a:extLst>
          </p:cNvPr>
          <p:cNvSpPr txBox="1">
            <a:spLocks/>
          </p:cNvSpPr>
          <p:nvPr/>
        </p:nvSpPr>
        <p:spPr>
          <a:xfrm>
            <a:off x="1194098" y="1632250"/>
            <a:ext cx="3039466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nối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264589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A99A-23CA-9C7A-F118-E6344A8E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410D-474F-E458-39A8-C8B81118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5" y="2595541"/>
            <a:ext cx="5915346" cy="2473473"/>
          </a:xfrm>
        </p:spPr>
        <p:txBody>
          <a:bodyPr>
            <a:noAutofit/>
          </a:bodyPr>
          <a:lstStyle/>
          <a:p>
            <a:r>
              <a:rPr lang="en-US" sz="2000" b="1" dirty="0" err="1">
                <a:latin typeface="+mj-lt"/>
              </a:rPr>
              <a:t>Cơ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chế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Áp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dụng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thuật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toán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phân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luân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phiên</a:t>
            </a:r>
            <a:r>
              <a:rPr lang="en-US" sz="2000" dirty="0">
                <a:latin typeface="+mj-lt"/>
              </a:rPr>
              <a:t> Round-Robin.</a:t>
            </a:r>
          </a:p>
          <a:p>
            <a:r>
              <a:rPr lang="en-US" sz="2000" b="1" dirty="0" err="1">
                <a:latin typeface="+mj-lt"/>
              </a:rPr>
              <a:t>Tránh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xung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đột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Ép</a:t>
            </a:r>
            <a:r>
              <a:rPr lang="en-US" sz="2000" dirty="0">
                <a:latin typeface="+mj-lt"/>
              </a:rPr>
              <a:t> Stall (</a:t>
            </a:r>
            <a:r>
              <a:rPr lang="en-US" sz="2000" dirty="0" err="1">
                <a:latin typeface="+mj-lt"/>
              </a:rPr>
              <a:t>đóng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băng</a:t>
            </a:r>
            <a:r>
              <a:rPr lang="en-US" sz="2000" dirty="0">
                <a:latin typeface="+mj-lt"/>
              </a:rPr>
              <a:t>) </a:t>
            </a:r>
            <a:r>
              <a:rPr lang="en-US" sz="2000" dirty="0" err="1">
                <a:latin typeface="+mj-lt"/>
              </a:rPr>
              <a:t>một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tạm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thời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nếu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hai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trỏ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vào</a:t>
            </a:r>
            <a:r>
              <a:rPr lang="en-US" sz="2000" dirty="0">
                <a:latin typeface="+mj-lt"/>
              </a:rPr>
              <a:t> 1 Slave.</a:t>
            </a:r>
          </a:p>
          <a:p>
            <a:r>
              <a:rPr lang="en-US" sz="2000" b="1" dirty="0">
                <a:latin typeface="+mj-lt"/>
              </a:rPr>
              <a:t>Công </a:t>
            </a:r>
            <a:r>
              <a:rPr lang="en-US" sz="2000" b="1" dirty="0" err="1">
                <a:latin typeface="+mj-lt"/>
              </a:rPr>
              <a:t>bằng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Tự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đảo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quyền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ưu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sau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mỗi</a:t>
            </a:r>
            <a:r>
              <a:rPr lang="en-US" sz="2000" dirty="0">
                <a:latin typeface="+mj-lt"/>
              </a:rPr>
              <a:t> chu </a:t>
            </a:r>
            <a:r>
              <a:rPr lang="en-US" sz="2000" dirty="0" err="1">
                <a:latin typeface="+mj-lt"/>
              </a:rPr>
              <a:t>kỳ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tránh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bỏ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đói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544B2-BD0C-296B-2DAE-93A3E533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32ACD-48CF-51CD-800F-A27DDB09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92" r="4200" b="3843"/>
          <a:stretch>
            <a:fillRect/>
          </a:stretch>
        </p:blipFill>
        <p:spPr>
          <a:xfrm>
            <a:off x="5984838" y="1000841"/>
            <a:ext cx="5278418" cy="579271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BF49973-5C41-B6B8-C17F-0BE030EAD054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514934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/>
              <a:t>2. Giải pháp đề xuất</a:t>
            </a:r>
            <a:endParaRPr lang="en-V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D30DA-D8B1-8C86-D794-8F33FB1467C6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FA64635-0BC8-BC17-EE5D-C0D683EBA4B2}"/>
              </a:ext>
            </a:extLst>
          </p:cNvPr>
          <p:cNvSpPr txBox="1">
            <a:spLocks/>
          </p:cNvSpPr>
          <p:nvPr/>
        </p:nvSpPr>
        <p:spPr>
          <a:xfrm>
            <a:off x="1194097" y="1632250"/>
            <a:ext cx="3539267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Bus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1681854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B7E-8DAC-4C5E-5112-0A10BB6A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1DD3-896E-9C8D-5AB7-34AD524F9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5" y="2595541"/>
            <a:ext cx="5804183" cy="1793579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j-lt"/>
              </a:rPr>
              <a:t>Atomic Operation:</a:t>
            </a:r>
            <a:r>
              <a:rPr lang="en-US" sz="2000" dirty="0">
                <a:latin typeface="+mj-lt"/>
              </a:rPr>
              <a:t> ICC </a:t>
            </a:r>
            <a:r>
              <a:rPr lang="en-US" sz="2000" dirty="0" err="1">
                <a:latin typeface="+mj-lt"/>
              </a:rPr>
              <a:t>tự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gán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khóa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lên</a:t>
            </a:r>
            <a:r>
              <a:rPr lang="en-US" sz="2000" dirty="0">
                <a:latin typeface="+mj-lt"/>
              </a:rPr>
              <a:t> 1 </a:t>
            </a:r>
            <a:r>
              <a:rPr lang="en-US" sz="2000" dirty="0" err="1">
                <a:latin typeface="+mj-lt"/>
              </a:rPr>
              <a:t>ngay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trong</a:t>
            </a:r>
            <a:r>
              <a:rPr lang="en-US" sz="2000" dirty="0">
                <a:latin typeface="+mj-lt"/>
              </a:rPr>
              <a:t> chu </a:t>
            </a:r>
            <a:r>
              <a:rPr lang="en-US" sz="2000" dirty="0" err="1">
                <a:latin typeface="+mj-lt"/>
              </a:rPr>
              <a:t>kỳ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đọc</a:t>
            </a:r>
            <a:r>
              <a:rPr lang="en-US" sz="2000" dirty="0">
                <a:latin typeface="+mj-lt"/>
              </a:rPr>
              <a:t> (Test-and-Set).</a:t>
            </a:r>
          </a:p>
          <a:p>
            <a:r>
              <a:rPr lang="en-US" sz="2000" b="1" dirty="0">
                <a:latin typeface="+mj-lt"/>
              </a:rPr>
              <a:t>Spinlock Loop: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Ép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mềm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chạy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vòng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lặp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while(Mutex == 1)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chờ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mở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cửa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găng</a:t>
            </a:r>
            <a:r>
              <a:rPr lang="en-US" sz="2000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15FD7-271F-D289-F4BD-DE3BCE42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7DDC49-8BB4-FAF6-F8A1-D06E5902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5" t="5491" r="1471" b="1991"/>
          <a:stretch>
            <a:fillRect/>
          </a:stretch>
        </p:blipFill>
        <p:spPr>
          <a:xfrm>
            <a:off x="5866582" y="1031977"/>
            <a:ext cx="5515009" cy="568949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78128B6-C779-DB02-4C70-3E176974E926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514934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 dirty="0"/>
              <a:t>2. Giải pháp đề xuất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D3F2F8-9724-35BD-EDB1-087A32E38EE9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7A66F39-F3C9-91FD-9B3B-F5724FA25C7E}"/>
              </a:ext>
            </a:extLst>
          </p:cNvPr>
          <p:cNvSpPr txBox="1">
            <a:spLocks/>
          </p:cNvSpPr>
          <p:nvPr/>
        </p:nvSpPr>
        <p:spPr>
          <a:xfrm>
            <a:off x="1194097" y="1632250"/>
            <a:ext cx="3299909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Mutex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281291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24CC3-E06B-213D-1899-510D5DBA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D6CAF-D982-3511-24F2-26B39AB88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549" y="3041725"/>
            <a:ext cx="11037345" cy="1793469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+mj-lt"/>
              </a:rPr>
              <a:t>Bản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đồ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địa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chỉ</a:t>
            </a:r>
            <a:r>
              <a:rPr lang="en-US" sz="2400" b="1" dirty="0">
                <a:latin typeface="+mj-lt"/>
              </a:rPr>
              <a:t>:</a:t>
            </a:r>
            <a:r>
              <a:rPr lang="en-US" sz="2400" dirty="0">
                <a:latin typeface="+mj-lt"/>
              </a:rPr>
              <a:t> RAM chia </a:t>
            </a:r>
            <a:r>
              <a:rPr lang="en-US" sz="2400" dirty="0" err="1">
                <a:latin typeface="+mj-lt"/>
              </a:rPr>
              <a:t>sẻ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đặt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tại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0x0200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bộ</a:t>
            </a:r>
            <a:r>
              <a:rPr lang="en-US" sz="2400" dirty="0">
                <a:latin typeface="+mj-lt"/>
              </a:rPr>
              <a:t> ICC </a:t>
            </a:r>
            <a:r>
              <a:rPr lang="en-US" sz="2400" dirty="0" err="1">
                <a:latin typeface="+mj-lt"/>
              </a:rPr>
              <a:t>đặt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tại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0x0C000000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 err="1">
                <a:latin typeface="+mj-lt"/>
              </a:rPr>
              <a:t>Phòng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ngừa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đụng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độ</a:t>
            </a:r>
            <a:r>
              <a:rPr lang="en-US" sz="2400" b="1" dirty="0">
                <a:latin typeface="+mj-lt"/>
              </a:rPr>
              <a:t>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Cô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lập</a:t>
            </a:r>
            <a:r>
              <a:rPr lang="en-US" sz="2400" dirty="0">
                <a:latin typeface="+mj-lt"/>
              </a:rPr>
              <a:t> Stack Pointer </a:t>
            </a:r>
            <a:r>
              <a:rPr lang="en-US" sz="2400" dirty="0" err="1">
                <a:latin typeface="+mj-lt"/>
              </a:rPr>
              <a:t>của</a:t>
            </a:r>
            <a:r>
              <a:rPr lang="en-US" sz="2400" dirty="0">
                <a:latin typeface="+mj-lt"/>
              </a:rPr>
              <a:t> Core 0 ở </a:t>
            </a:r>
            <a:r>
              <a:rPr lang="en-US" sz="2400" dirty="0">
                <a:latin typeface="Consolas" panose="020B0609020204030204" pitchFamily="49" charset="0"/>
              </a:rPr>
              <a:t>0x1F0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và</a:t>
            </a:r>
            <a:r>
              <a:rPr lang="en-US" sz="2400" dirty="0">
                <a:latin typeface="+mj-lt"/>
              </a:rPr>
              <a:t> Core 1 ở </a:t>
            </a:r>
            <a:r>
              <a:rPr lang="en-US" sz="2400" dirty="0">
                <a:latin typeface="Consolas" panose="020B0609020204030204" pitchFamily="49" charset="0"/>
              </a:rPr>
              <a:t>0x3F0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b="1" dirty="0" err="1">
                <a:latin typeface="+mj-lt"/>
              </a:rPr>
              <a:t>Môi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trường</a:t>
            </a:r>
            <a:r>
              <a:rPr lang="en-US" sz="2400" b="1" dirty="0">
                <a:latin typeface="+mj-lt"/>
              </a:rPr>
              <a:t>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Biên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dịch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mã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máy</a:t>
            </a:r>
            <a:r>
              <a:rPr lang="en-US" sz="2400" dirty="0">
                <a:latin typeface="+mj-lt"/>
              </a:rPr>
              <a:t> Bare-metal </a:t>
            </a:r>
            <a:r>
              <a:rPr lang="en-US" sz="2400" dirty="0" err="1">
                <a:latin typeface="+mj-lt"/>
              </a:rPr>
              <a:t>từ</a:t>
            </a:r>
            <a:r>
              <a:rPr lang="en-US" sz="2400" dirty="0">
                <a:latin typeface="+mj-lt"/>
              </a:rPr>
              <a:t> C++ </a:t>
            </a:r>
            <a:r>
              <a:rPr lang="en-US" sz="2400" dirty="0" err="1">
                <a:latin typeface="+mj-lt"/>
              </a:rPr>
              <a:t>bằng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riscv</a:t>
            </a:r>
            <a:r>
              <a:rPr lang="en-US" sz="2400" dirty="0">
                <a:latin typeface="Consolas" panose="020B0609020204030204" pitchFamily="49" charset="0"/>
              </a:rPr>
              <a:t>-none-elf-</a:t>
            </a:r>
            <a:r>
              <a:rPr lang="en-US" sz="2400" dirty="0" err="1">
                <a:latin typeface="Consolas" panose="020B0609020204030204" pitchFamily="49" charset="0"/>
              </a:rPr>
              <a:t>gcc</a:t>
            </a:r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28C97-8F11-FCDC-9303-31B26BDE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5B48054-4CC4-3C03-54E1-C95990306615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514934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 dirty="0"/>
              <a:t>2. Giải pháp đề xuất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6D636-AF6F-B59F-AF3F-A86073073FCE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F9AB365-2E32-9ACF-DF60-0CEAC62EA1B5}"/>
              </a:ext>
            </a:extLst>
          </p:cNvPr>
          <p:cNvSpPr txBox="1">
            <a:spLocks/>
          </p:cNvSpPr>
          <p:nvPr/>
        </p:nvSpPr>
        <p:spPr>
          <a:xfrm>
            <a:off x="1194097" y="1632250"/>
            <a:ext cx="4424087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Quy </a:t>
            </a:r>
            <a:r>
              <a:rPr lang="en-US" sz="2400" dirty="0" err="1"/>
              <a:t>hoạch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&amp; Firmware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2157778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KẾT QUẢ CỦA</a:t>
            </a:r>
            <a:br>
              <a:rPr lang="en-VN" dirty="0"/>
            </a:br>
            <a:r>
              <a:rPr lang="en-VN" dirty="0"/>
              <a:t>GIẢI PHÁP ĐỀ XUẤT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3361" y="4108231"/>
            <a:ext cx="7264727" cy="741925"/>
          </a:xfrm>
        </p:spPr>
        <p:txBody>
          <a:bodyPr>
            <a:normAutofit/>
          </a:bodyPr>
          <a:lstStyle/>
          <a:p>
            <a:r>
              <a:rPr lang="en-US" dirty="0"/>
              <a:t>Minh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sóng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ModelSim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52053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F85-E9DC-CE6F-1505-4F1261E3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771141"/>
            <a:ext cx="6063741" cy="890663"/>
          </a:xfrm>
        </p:spPr>
        <p:txBody>
          <a:bodyPr/>
          <a:lstStyle/>
          <a:p>
            <a:r>
              <a:rPr lang="en-VN" dirty="0"/>
              <a:t>3. Kết quả của giải pháp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5624295"/>
            <a:ext cx="10980000" cy="1232285"/>
          </a:xfrm>
        </p:spPr>
        <p:txBody>
          <a:bodyPr>
            <a:normAutofit lnSpcReduction="10000"/>
          </a:bodyPr>
          <a:lstStyle/>
          <a:p>
            <a:r>
              <a:rPr lang="en-US" sz="1800" b="1" dirty="0" err="1">
                <a:latin typeface="+mj-lt"/>
              </a:rPr>
              <a:t>Mốc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thời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gian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Đoạn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sóng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khởi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động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hệ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thống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từ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0ns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đến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140ns</a:t>
            </a:r>
            <a:r>
              <a:rPr lang="en-US" sz="1800" dirty="0">
                <a:latin typeface="+mj-lt"/>
              </a:rPr>
              <a:t>.</a:t>
            </a:r>
          </a:p>
          <a:p>
            <a:r>
              <a:rPr lang="en-US" sz="1800" b="1" dirty="0" err="1">
                <a:latin typeface="+mj-lt"/>
              </a:rPr>
              <a:t>Hiện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tượng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m1_stall </a:t>
            </a:r>
            <a:r>
              <a:rPr lang="en-US" sz="1800" dirty="0" err="1">
                <a:latin typeface="+mj-lt"/>
              </a:rPr>
              <a:t>bật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lên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1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trong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khi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m0_stall </a:t>
            </a:r>
            <a:r>
              <a:rPr lang="en-US" sz="1800" dirty="0" err="1">
                <a:latin typeface="+mj-lt"/>
              </a:rPr>
              <a:t>giữ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bằng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0</a:t>
            </a:r>
            <a:r>
              <a:rPr lang="en-US" sz="1800" dirty="0">
                <a:latin typeface="+mj-lt"/>
              </a:rPr>
              <a:t>.</a:t>
            </a:r>
          </a:p>
          <a:p>
            <a:r>
              <a:rPr lang="en-US" sz="1800" b="1" dirty="0" err="1">
                <a:latin typeface="+mj-lt"/>
              </a:rPr>
              <a:t>Kết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luận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Bộ</a:t>
            </a:r>
            <a:r>
              <a:rPr lang="en-US" sz="1800" dirty="0">
                <a:latin typeface="+mj-lt"/>
              </a:rPr>
              <a:t> Crossbar </a:t>
            </a:r>
            <a:r>
              <a:rPr lang="en-US" sz="1800" dirty="0" err="1">
                <a:latin typeface="+mj-lt"/>
              </a:rPr>
              <a:t>hoạt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động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chính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xác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ép</a:t>
            </a:r>
            <a:r>
              <a:rPr lang="en-US" sz="1800" dirty="0">
                <a:latin typeface="+mj-lt"/>
              </a:rPr>
              <a:t> Core 1 </a:t>
            </a:r>
            <a:r>
              <a:rPr lang="en-US" sz="1800" dirty="0" err="1">
                <a:latin typeface="+mj-lt"/>
              </a:rPr>
              <a:t>chờ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nhường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đường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cho</a:t>
            </a:r>
            <a:r>
              <a:rPr lang="en-US" sz="1800" dirty="0">
                <a:latin typeface="+mj-lt"/>
              </a:rPr>
              <a:t> Core 0.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5EBD0-91AA-0A6D-53E3-C335A4AD7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6" y="1978428"/>
            <a:ext cx="11517868" cy="36458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684592-5B4D-E9A1-88A3-E0B550A9B362}"/>
              </a:ext>
            </a:extLst>
          </p:cNvPr>
          <p:cNvSpPr/>
          <p:nvPr/>
        </p:nvSpPr>
        <p:spPr>
          <a:xfrm>
            <a:off x="1194098" y="1580869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6BC73F-4814-7B9E-B5F2-488BD2C24BA4}"/>
              </a:ext>
            </a:extLst>
          </p:cNvPr>
          <p:cNvSpPr txBox="1">
            <a:spLocks/>
          </p:cNvSpPr>
          <p:nvPr/>
        </p:nvSpPr>
        <p:spPr>
          <a:xfrm>
            <a:off x="1239817" y="1473974"/>
            <a:ext cx="3098203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tranh</a:t>
            </a:r>
            <a:r>
              <a:rPr lang="en-US" sz="2400" dirty="0"/>
              <a:t> </a:t>
            </a:r>
            <a:r>
              <a:rPr lang="en-US" sz="2400" dirty="0" err="1"/>
              <a:t>chấp</a:t>
            </a:r>
            <a:r>
              <a:rPr lang="en-US" sz="2400" dirty="0"/>
              <a:t> Bus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4126097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BF91-E89F-9893-334C-1CE613160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095C-DB9C-82DD-0593-C4226320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771141"/>
            <a:ext cx="6063741" cy="890663"/>
          </a:xfrm>
        </p:spPr>
        <p:txBody>
          <a:bodyPr/>
          <a:lstStyle/>
          <a:p>
            <a:r>
              <a:rPr lang="en-VN" dirty="0"/>
              <a:t>3. Kết quả của giải pháp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2FB95-0765-6EBB-4762-308D58068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5624295"/>
            <a:ext cx="10980000" cy="1232285"/>
          </a:xfrm>
        </p:spPr>
        <p:txBody>
          <a:bodyPr>
            <a:normAutofit lnSpcReduction="10000"/>
          </a:bodyPr>
          <a:lstStyle/>
          <a:p>
            <a:r>
              <a:rPr lang="en-US" sz="1800" b="1" dirty="0" err="1">
                <a:latin typeface="+mj-lt"/>
              </a:rPr>
              <a:t>Mốc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thời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gian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Đoạn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sóng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xử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lý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vùng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găng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từ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180ns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đến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290ns</a:t>
            </a:r>
            <a:r>
              <a:rPr lang="en-US" sz="1800" dirty="0">
                <a:latin typeface="+mj-lt"/>
              </a:rPr>
              <a:t>.</a:t>
            </a:r>
          </a:p>
          <a:p>
            <a:r>
              <a:rPr lang="en-US" sz="1800" b="1" dirty="0" err="1">
                <a:latin typeface="+mj-lt"/>
              </a:rPr>
              <a:t>Hiện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tượng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mutex_lock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lên</a:t>
            </a:r>
            <a:r>
              <a:rPr lang="en-US" sz="1800" dirty="0">
                <a:latin typeface="+mj-lt"/>
              </a:rPr>
              <a:t> 1; </a:t>
            </a:r>
            <a:r>
              <a:rPr lang="en-US" sz="1800" dirty="0" err="1">
                <a:latin typeface="+mj-lt"/>
              </a:rPr>
              <a:t>Bộ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đếm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c1_pc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lặp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tuần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hoàn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tại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địa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chỉ</a:t>
            </a:r>
            <a:r>
              <a:rPr lang="en-US" sz="1800" dirty="0">
                <a:latin typeface="+mj-lt"/>
              </a:rPr>
              <a:t> 80 ⮕ 84 ⮕88 </a:t>
            </a:r>
            <a:r>
              <a:rPr lang="en-US" sz="1800" dirty="0"/>
              <a:t>⮕</a:t>
            </a:r>
            <a:r>
              <a:rPr lang="en-US" sz="1800" dirty="0">
                <a:latin typeface="+mj-lt"/>
              </a:rPr>
              <a:t> 8c </a:t>
            </a:r>
            <a:r>
              <a:rPr lang="en-US" sz="1800" dirty="0"/>
              <a:t>⮕ </a:t>
            </a:r>
            <a:r>
              <a:rPr lang="en-US" sz="1800" dirty="0">
                <a:latin typeface="+mj-lt"/>
              </a:rPr>
              <a:t>90</a:t>
            </a:r>
            <a:r>
              <a:rPr lang="en-US" sz="1800" dirty="0"/>
              <a:t> ⮕</a:t>
            </a:r>
            <a:r>
              <a:rPr lang="en-US" sz="1800" dirty="0">
                <a:latin typeface="+mj-lt"/>
              </a:rPr>
              <a:t> 7c.</a:t>
            </a:r>
          </a:p>
          <a:p>
            <a:r>
              <a:rPr lang="en-US" sz="1800" b="1" dirty="0" err="1">
                <a:latin typeface="+mj-lt"/>
              </a:rPr>
              <a:t>Kết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luận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</a:t>
            </a:r>
            <a:r>
              <a:rPr lang="vi-VN" sz="1800" dirty="0">
                <a:latin typeface="+mj-lt"/>
              </a:rPr>
              <a:t>Cơ chế </a:t>
            </a:r>
            <a:r>
              <a:rPr lang="vi-VN" sz="1800" dirty="0" err="1">
                <a:latin typeface="+mj-lt"/>
              </a:rPr>
              <a:t>Spinlock</a:t>
            </a:r>
            <a:r>
              <a:rPr lang="vi-VN" sz="1800" dirty="0">
                <a:latin typeface="+mj-lt"/>
              </a:rPr>
              <a:t> bằng phần cứng vận hành chuẩn, chặn </a:t>
            </a:r>
            <a:r>
              <a:rPr lang="vi-VN" sz="1800" dirty="0" err="1">
                <a:latin typeface="+mj-lt"/>
              </a:rPr>
              <a:t>Core</a:t>
            </a:r>
            <a:r>
              <a:rPr lang="vi-VN" sz="1800" dirty="0">
                <a:latin typeface="+mj-lt"/>
              </a:rPr>
              <a:t> 1 ghi đè dữ liệu.</a:t>
            </a:r>
            <a:r>
              <a:rPr lang="en-US" sz="1800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ECC6B-F0B0-6E5F-05BD-1E83DC4B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6760ED-6FEA-3EB9-638E-A3330DAFC367}"/>
              </a:ext>
            </a:extLst>
          </p:cNvPr>
          <p:cNvSpPr/>
          <p:nvPr/>
        </p:nvSpPr>
        <p:spPr>
          <a:xfrm>
            <a:off x="1194098" y="1580869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29DB22-9036-0C7A-0DD7-482FA7E828AE}"/>
              </a:ext>
            </a:extLst>
          </p:cNvPr>
          <p:cNvSpPr txBox="1">
            <a:spLocks/>
          </p:cNvSpPr>
          <p:nvPr/>
        </p:nvSpPr>
        <p:spPr>
          <a:xfrm>
            <a:off x="1239817" y="1473974"/>
            <a:ext cx="3098203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Mutex</a:t>
            </a:r>
            <a:endParaRPr lang="en-V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6B1FB-D1EF-FB1D-43FF-B8C8E9D51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19" y="1963585"/>
            <a:ext cx="11171981" cy="357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96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44B46-8EE4-A604-B4D3-2AC97162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17C3-1B0A-B591-23D1-FB130A07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771141"/>
            <a:ext cx="6063741" cy="890663"/>
          </a:xfrm>
        </p:spPr>
        <p:txBody>
          <a:bodyPr/>
          <a:lstStyle/>
          <a:p>
            <a:r>
              <a:rPr lang="en-VN" dirty="0"/>
              <a:t>3. Kết quả của giải pháp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C9E1B-92CB-C677-F134-D95F897A0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5624295"/>
            <a:ext cx="10980000" cy="1232285"/>
          </a:xfrm>
        </p:spPr>
        <p:txBody>
          <a:bodyPr>
            <a:normAutofit lnSpcReduction="10000"/>
          </a:bodyPr>
          <a:lstStyle/>
          <a:p>
            <a:r>
              <a:rPr lang="en-US" sz="1800" b="1" dirty="0" err="1">
                <a:latin typeface="+mj-lt"/>
              </a:rPr>
              <a:t>Thời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gian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chạy</a:t>
            </a:r>
            <a:r>
              <a:rPr lang="en-US" sz="1800" b="1" dirty="0">
                <a:latin typeface="+mj-lt"/>
              </a:rPr>
              <a:t>: </a:t>
            </a:r>
            <a:r>
              <a:rPr lang="en-US" sz="1800" dirty="0" err="1">
                <a:latin typeface="+mj-lt"/>
              </a:rPr>
              <a:t>Mô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phỏng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kéo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dài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liên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tục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tới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mốc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thời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gian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5000ns</a:t>
            </a:r>
            <a:r>
              <a:rPr lang="en-US" sz="1800" dirty="0">
                <a:latin typeface="+mj-lt"/>
              </a:rPr>
              <a:t>.</a:t>
            </a:r>
          </a:p>
          <a:p>
            <a:r>
              <a:rPr lang="en-US" sz="1800" b="1" dirty="0" err="1">
                <a:latin typeface="+mj-lt"/>
              </a:rPr>
              <a:t>Đặc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tính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kịch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bản</a:t>
            </a:r>
            <a:r>
              <a:rPr lang="en-US" sz="1800" b="1" dirty="0">
                <a:latin typeface="+mj-lt"/>
              </a:rPr>
              <a:t>: </a:t>
            </a:r>
            <a:r>
              <a:rPr lang="en-US" sz="1800" dirty="0" err="1">
                <a:latin typeface="+mj-lt"/>
              </a:rPr>
              <a:t>Áp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dụng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chủ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đích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trạng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thái</a:t>
            </a:r>
            <a:r>
              <a:rPr lang="en-US" sz="1800" dirty="0">
                <a:latin typeface="+mj-lt"/>
              </a:rPr>
              <a:t> “Hold Lock” (</a:t>
            </a:r>
            <a:r>
              <a:rPr lang="en-US" sz="1800" dirty="0" err="1">
                <a:latin typeface="+mj-lt"/>
              </a:rPr>
              <a:t>giữ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khóa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vô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hạn</a:t>
            </a:r>
            <a:r>
              <a:rPr lang="en-US" sz="1800" dirty="0">
                <a:latin typeface="+mj-lt"/>
              </a:rPr>
              <a:t>).</a:t>
            </a:r>
          </a:p>
          <a:p>
            <a:r>
              <a:rPr lang="en-US" sz="1800" b="1" dirty="0" err="1">
                <a:latin typeface="+mj-lt"/>
              </a:rPr>
              <a:t>Kết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b="1" dirty="0" err="1">
                <a:latin typeface="+mj-lt"/>
              </a:rPr>
              <a:t>quả</a:t>
            </a:r>
            <a:r>
              <a:rPr lang="en-US" sz="1800" b="1" dirty="0">
                <a:latin typeface="+mj-lt"/>
              </a:rPr>
              <a:t>: </a:t>
            </a:r>
            <a:r>
              <a:rPr lang="en-US" sz="1800" dirty="0" err="1">
                <a:latin typeface="+mj-lt"/>
              </a:rPr>
              <a:t>Hệ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thống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duy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trì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trạng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thái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phân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quyền</a:t>
            </a:r>
            <a:r>
              <a:rPr lang="en-US" sz="1800" dirty="0">
                <a:latin typeface="+mj-lt"/>
              </a:rPr>
              <a:t> an </a:t>
            </a:r>
            <a:r>
              <a:rPr lang="en-US" sz="1800" dirty="0" err="1">
                <a:latin typeface="+mj-lt"/>
              </a:rPr>
              <a:t>toàn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không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bị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treo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lõi</a:t>
            </a:r>
            <a:r>
              <a:rPr lang="en-US" sz="1800" dirty="0">
                <a:latin typeface="+mj-lt"/>
              </a:rPr>
              <a:t> hay </a:t>
            </a:r>
            <a:r>
              <a:rPr lang="en-US" sz="1800" dirty="0" err="1">
                <a:latin typeface="+mj-lt"/>
              </a:rPr>
              <a:t>tràn</a:t>
            </a:r>
            <a:r>
              <a:rPr lang="en-US" sz="1800" dirty="0">
                <a:latin typeface="+mj-lt"/>
              </a:rPr>
              <a:t> Stack.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B0423-C1F7-02B3-0875-004BE493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02ACFE-025C-5259-4C22-607A6AE08943}"/>
              </a:ext>
            </a:extLst>
          </p:cNvPr>
          <p:cNvSpPr/>
          <p:nvPr/>
        </p:nvSpPr>
        <p:spPr>
          <a:xfrm>
            <a:off x="1194098" y="1580869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6BE5679-4291-1D4D-136A-942A73C0DDA2}"/>
              </a:ext>
            </a:extLst>
          </p:cNvPr>
          <p:cNvSpPr txBox="1">
            <a:spLocks/>
          </p:cNvSpPr>
          <p:nvPr/>
        </p:nvSpPr>
        <p:spPr>
          <a:xfrm>
            <a:off x="1239817" y="1473974"/>
            <a:ext cx="3970812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endParaRPr lang="en-V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E8551-9991-14BC-8293-AAAAF7434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6" y="1988976"/>
            <a:ext cx="11580223" cy="363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00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KẾT LUẬN VÀ HƯỚNG</a:t>
            </a:r>
            <a:br>
              <a:rPr lang="en-VN" dirty="0"/>
            </a:br>
            <a:r>
              <a:rPr lang="en-VN" dirty="0"/>
              <a:t>PHÁT TRIỂN CỦA ĐỀ TÀI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5898506" cy="741925"/>
          </a:xfrm>
        </p:spPr>
        <p:txBody>
          <a:bodyPr>
            <a:normAutofit/>
          </a:bodyPr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33382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6762-78C3-B744-DD5C-CFF1A18D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2188125"/>
            <a:ext cx="10980000" cy="3448882"/>
          </a:xfrm>
        </p:spPr>
        <p:txBody>
          <a:bodyPr/>
          <a:lstStyle/>
          <a:p>
            <a:r>
              <a:rPr lang="en-US" dirty="0">
                <a:latin typeface="+mj-lt"/>
              </a:rPr>
              <a:t>Làm </a:t>
            </a:r>
            <a:r>
              <a:rPr lang="en-US" dirty="0" err="1">
                <a:latin typeface="+mj-lt"/>
              </a:rPr>
              <a:t>chủ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phương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pháp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thiết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đồng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Phần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cứng</a:t>
            </a:r>
            <a:r>
              <a:rPr lang="en-US" dirty="0">
                <a:latin typeface="+mj-lt"/>
              </a:rPr>
              <a:t> - </a:t>
            </a:r>
            <a:r>
              <a:rPr lang="en-US" dirty="0" err="1">
                <a:latin typeface="+mj-lt"/>
              </a:rPr>
              <a:t>Phần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mềm</a:t>
            </a:r>
            <a:r>
              <a:rPr lang="en-US" dirty="0">
                <a:latin typeface="+mj-lt"/>
              </a:rPr>
              <a:t> </a:t>
            </a:r>
          </a:p>
          <a:p>
            <a:r>
              <a:rPr lang="en-US" dirty="0" err="1">
                <a:latin typeface="+mj-lt"/>
              </a:rPr>
              <a:t>Vá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lỗi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hoàn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thiện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thành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công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lõi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xử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lý</a:t>
            </a:r>
            <a:r>
              <a:rPr lang="en-US" dirty="0">
                <a:latin typeface="+mj-lt"/>
              </a:rPr>
              <a:t> RV32I </a:t>
            </a:r>
            <a:r>
              <a:rPr lang="en-US" dirty="0" err="1">
                <a:latin typeface="+mj-lt"/>
              </a:rPr>
              <a:t>đáp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ứng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tốt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trình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biên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dịch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chuyên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dụng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 err="1">
                <a:latin typeface="+mj-lt"/>
              </a:rPr>
              <a:t>Hiện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thực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hóa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thành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công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mạng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liên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kết</a:t>
            </a:r>
            <a:r>
              <a:rPr lang="en-US" dirty="0">
                <a:latin typeface="+mj-lt"/>
              </a:rPr>
              <a:t> Crossbar song </a:t>
            </a:r>
            <a:r>
              <a:rPr lang="en-US" dirty="0" err="1">
                <a:latin typeface="+mj-lt"/>
              </a:rPr>
              <a:t>song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khóa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đồng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liệu</a:t>
            </a:r>
            <a:r>
              <a:rPr lang="en-US" dirty="0">
                <a:latin typeface="+mj-lt"/>
              </a:rPr>
              <a:t> an </a:t>
            </a:r>
            <a:r>
              <a:rPr lang="en-US" dirty="0" err="1">
                <a:latin typeface="+mj-lt"/>
              </a:rPr>
              <a:t>toàn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C5F9B-6BD1-EB73-CE7B-C14AF3C9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ABDD8E8-365B-6E63-1C71-D975E7ECF000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1043762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 dirty="0"/>
              <a:t>4. Kết luận và hướng phát triển của đề tài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BE283-8F96-8E1F-C318-633684947AFB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7276335-E41E-6CC5-0FB4-FECC874DE9F2}"/>
              </a:ext>
            </a:extLst>
          </p:cNvPr>
          <p:cNvSpPr txBox="1">
            <a:spLocks/>
          </p:cNvSpPr>
          <p:nvPr/>
        </p:nvSpPr>
        <p:spPr>
          <a:xfrm>
            <a:off x="1194097" y="1632250"/>
            <a:ext cx="4424087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luận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1487050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F599-A466-198C-515F-2C3700F0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4E0B-8517-60E8-551E-A3D47C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99" y="2655285"/>
            <a:ext cx="11586001" cy="1964327"/>
          </a:xfrm>
        </p:spPr>
        <p:txBody>
          <a:bodyPr>
            <a:normAutofit/>
          </a:bodyPr>
          <a:lstStyle/>
          <a:p>
            <a:r>
              <a:rPr lang="en-US" dirty="0" err="1">
                <a:latin typeface="+mj-lt"/>
              </a:rPr>
              <a:t>Nâng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cấp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cấu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trúc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lõi</a:t>
            </a:r>
            <a:r>
              <a:rPr lang="en-US" dirty="0">
                <a:latin typeface="+mj-lt"/>
              </a:rPr>
              <a:t> CPU </a:t>
            </a:r>
            <a:r>
              <a:rPr lang="en-US" dirty="0" err="1">
                <a:latin typeface="+mj-lt"/>
              </a:rPr>
              <a:t>từ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Đơn</a:t>
            </a:r>
            <a:r>
              <a:rPr lang="en-US" dirty="0">
                <a:latin typeface="+mj-lt"/>
              </a:rPr>
              <a:t> chu </a:t>
            </a:r>
            <a:r>
              <a:rPr lang="en-US" dirty="0" err="1">
                <a:latin typeface="+mj-lt"/>
              </a:rPr>
              <a:t>kỳ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lên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cấu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trúc</a:t>
            </a:r>
            <a:r>
              <a:rPr lang="en-US" dirty="0">
                <a:latin typeface="+mj-lt"/>
              </a:rPr>
              <a:t> Pipeline 5 </a:t>
            </a:r>
            <a:r>
              <a:rPr lang="en-US" dirty="0" err="1">
                <a:latin typeface="+mj-lt"/>
              </a:rPr>
              <a:t>giai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đoạn</a:t>
            </a:r>
            <a:r>
              <a:rPr lang="en-US" dirty="0">
                <a:latin typeface="+mj-lt"/>
              </a:rPr>
              <a:t>. </a:t>
            </a:r>
            <a:r>
              <a:rPr lang="en-US" sz="1100" dirty="0">
                <a:latin typeface="+mj-lt"/>
              </a:rPr>
              <a:t>[3]</a:t>
            </a:r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Nghiên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cứu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triển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khai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nhớ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đệm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từng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lõi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xử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lý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 err="1">
                <a:latin typeface="+mj-lt"/>
              </a:rPr>
              <a:t>Thiết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tích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hợp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giao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thức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đồng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nhất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nhớ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đệm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E83E7-8949-0A57-D9B0-3D6C1544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A6A0C5A-A494-4731-BED3-E030A6B9712C}"/>
              </a:ext>
            </a:extLst>
          </p:cNvPr>
          <p:cNvSpPr txBox="1">
            <a:spLocks/>
          </p:cNvSpPr>
          <p:nvPr/>
        </p:nvSpPr>
        <p:spPr>
          <a:xfrm>
            <a:off x="606000" y="879762"/>
            <a:ext cx="10437621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VN" dirty="0"/>
              <a:t>4. Kết luận và hướng phát triển của đề tài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29A101-1F6A-2D00-1CAD-CB1CAEF77995}"/>
              </a:ext>
            </a:extLst>
          </p:cNvPr>
          <p:cNvSpPr/>
          <p:nvPr/>
        </p:nvSpPr>
        <p:spPr>
          <a:xfrm>
            <a:off x="1148379" y="1745694"/>
            <a:ext cx="45719" cy="30121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0DB9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730FA17-B351-C218-2809-98B16B297BFF}"/>
              </a:ext>
            </a:extLst>
          </p:cNvPr>
          <p:cNvSpPr txBox="1">
            <a:spLocks/>
          </p:cNvSpPr>
          <p:nvPr/>
        </p:nvSpPr>
        <p:spPr>
          <a:xfrm>
            <a:off x="1194098" y="1632250"/>
            <a:ext cx="2955666" cy="515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620958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0ED2-0976-BDD1-42A3-BC1678C6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Tài liệu tham khảo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33310-1EC0-648B-A63E-D2398957D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[1] RISC-V International.</a:t>
            </a:r>
            <a:r>
              <a:rPr lang="en-US" dirty="0"/>
              <a:t> </a:t>
            </a:r>
            <a:r>
              <a:rPr lang="en-US" i="1" dirty="0"/>
              <a:t>The RISC-V Instruction Set Manual, Volume I: Unprivileged ISA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Link: </a:t>
            </a:r>
            <a:r>
              <a:rPr lang="en-US" dirty="0">
                <a:hlinkClick r:id="rId2"/>
              </a:rPr>
              <a:t>https://courses.grainger.illinois.edu/ece391/sp2025/docs/unpriv-isa-20240411.pdf</a:t>
            </a:r>
            <a:endParaRPr lang="en-US" dirty="0"/>
          </a:p>
          <a:p>
            <a:r>
              <a:rPr lang="en-US" b="1" dirty="0"/>
              <a:t>[2] Trường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Công </a:t>
            </a:r>
            <a:r>
              <a:rPr lang="en-US" b="1" dirty="0" err="1"/>
              <a:t>nghệ</a:t>
            </a:r>
            <a:r>
              <a:rPr lang="en-US" b="1" dirty="0"/>
              <a:t> Thông tin (UIT).</a:t>
            </a:r>
            <a:r>
              <a:rPr lang="en-US" dirty="0"/>
              <a:t> </a:t>
            </a:r>
            <a:r>
              <a:rPr lang="en-US" i="1" dirty="0"/>
              <a:t>Tài </a:t>
            </a:r>
            <a:r>
              <a:rPr lang="en-US" i="1" dirty="0" err="1"/>
              <a:t>liệu</a:t>
            </a:r>
            <a:r>
              <a:rPr lang="en-US" i="1" dirty="0"/>
              <a:t> </a:t>
            </a:r>
            <a:r>
              <a:rPr lang="en-US" i="1" dirty="0" err="1"/>
              <a:t>Kiến</a:t>
            </a:r>
            <a:r>
              <a:rPr lang="en-US" i="1" dirty="0"/>
              <a:t> </a:t>
            </a:r>
            <a:r>
              <a:rPr lang="en-US" i="1" dirty="0" err="1"/>
              <a:t>trúc</a:t>
            </a:r>
            <a:r>
              <a:rPr lang="en-US" i="1" dirty="0"/>
              <a:t> </a:t>
            </a:r>
            <a:r>
              <a:rPr lang="en-US" i="1" dirty="0" err="1"/>
              <a:t>máy</a:t>
            </a:r>
            <a:r>
              <a:rPr lang="en-US" i="1" dirty="0"/>
              <a:t> </a:t>
            </a:r>
            <a:r>
              <a:rPr lang="en-US" i="1" dirty="0" err="1"/>
              <a:t>tính</a:t>
            </a:r>
            <a:r>
              <a:rPr lang="en-US" i="1" dirty="0"/>
              <a:t> - RISC-V Important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Link: </a:t>
            </a:r>
            <a:r>
              <a:rPr lang="en-US" dirty="0">
                <a:hlinkClick r:id="rId3"/>
              </a:rPr>
              <a:t>https://www.studocu.vn/vn/document/truong-dai-hoc-cong-nghe-thong-tin/kien-truc-may-tinh/riscv-important/109501110</a:t>
            </a:r>
            <a:endParaRPr lang="en-US" dirty="0"/>
          </a:p>
          <a:p>
            <a:r>
              <a:rPr lang="en-US" b="1" dirty="0"/>
              <a:t>[3] David Harris &amp; Sarah Harris.</a:t>
            </a:r>
            <a:r>
              <a:rPr lang="en-US" dirty="0"/>
              <a:t> </a:t>
            </a:r>
            <a:r>
              <a:rPr lang="en-US" i="1" dirty="0"/>
              <a:t>Digital Design and Computer Architecture: RISC-V Edition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Link: </a:t>
            </a:r>
            <a:r>
              <a:rPr lang="en-US" dirty="0">
                <a:hlinkClick r:id="rId4"/>
              </a:rPr>
              <a:t>http://www.r-5.org/files/books/computers/hw-layers/hardware/digital-desigh/David_Harris_Sarah_Harris-Digital_Design_and_Computer_Architecture-EN.pdf</a:t>
            </a:r>
            <a:endParaRPr lang="en-US" dirty="0"/>
          </a:p>
          <a:p>
            <a:r>
              <a:rPr lang="en-US" b="1" dirty="0"/>
              <a:t>[4] Govardhan R.</a:t>
            </a:r>
            <a:r>
              <a:rPr lang="en-US" dirty="0"/>
              <a:t> </a:t>
            </a:r>
            <a:r>
              <a:rPr lang="en-US" i="1" dirty="0"/>
              <a:t>RISCV-Single-Cycle-Processor Base Core IP Generation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Link: </a:t>
            </a:r>
            <a:r>
              <a:rPr lang="en-US" dirty="0">
                <a:hlinkClick r:id="rId5"/>
              </a:rPr>
              <a:t>https://github.com/Govardhan-R/RISCV-Single-Cycle-Processor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94994-CBD5-3E49-C675-905C929A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1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5A67D-F1E3-E814-8051-6DF99731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7406D-4210-10C7-B19B-033A768D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HỎI VÀ ĐÁP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8B07E-997D-5857-E9C5-29F28FD996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51421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360A-81E2-6C44-F533-4A6E497C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Phụ lụ</a:t>
            </a:r>
            <a:r>
              <a:rPr lang="en-US" dirty="0"/>
              <a:t>c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0DFBC-BFAA-0BEC-5947-4CA5249D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26" y="2020279"/>
            <a:ext cx="10980000" cy="4156684"/>
          </a:xfrm>
        </p:spPr>
        <p:txBody>
          <a:bodyPr/>
          <a:lstStyle/>
          <a:p>
            <a:r>
              <a:rPr lang="en-US" sz="2400" b="1" dirty="0" err="1">
                <a:latin typeface="+mj-lt"/>
              </a:rPr>
              <a:t>Mã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nguồn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dự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án</a:t>
            </a:r>
            <a:r>
              <a:rPr lang="en-US" sz="2400" b="1" dirty="0">
                <a:latin typeface="+mj-lt"/>
              </a:rPr>
              <a:t> (GitHub):</a:t>
            </a:r>
            <a:r>
              <a:rPr lang="en-US" sz="2400" dirty="0">
                <a:latin typeface="+mj-lt"/>
              </a:rPr>
              <a:t> 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  <a:hlinkClick r:id="rId2"/>
              </a:rPr>
              <a:t>https://github.com/NguyenDinhNhatNguyen/RISCV-Multicore-Project.git</a:t>
            </a:r>
            <a:r>
              <a:rPr lang="en-US" sz="2400" dirty="0">
                <a:latin typeface="+mj-lt"/>
              </a:rPr>
              <a:t> </a:t>
            </a:r>
          </a:p>
          <a:p>
            <a:r>
              <a:rPr lang="en-US" sz="2400" b="1" dirty="0" err="1">
                <a:latin typeface="+mj-lt"/>
              </a:rPr>
              <a:t>Đoạn</a:t>
            </a:r>
            <a:r>
              <a:rPr lang="en-US" sz="2400" b="1" dirty="0">
                <a:latin typeface="+mj-lt"/>
              </a:rPr>
              <a:t> code </a:t>
            </a:r>
            <a:r>
              <a:rPr lang="en-US" sz="2400" b="1" dirty="0" err="1">
                <a:latin typeface="+mj-lt"/>
              </a:rPr>
              <a:t>Vòng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lặp</a:t>
            </a:r>
            <a:r>
              <a:rPr lang="en-US" sz="2400" b="1" dirty="0">
                <a:latin typeface="+mj-lt"/>
              </a:rPr>
              <a:t> Spinlock Mutex (C++)</a:t>
            </a:r>
          </a:p>
          <a:p>
            <a:endParaRPr lang="en-US" sz="2400" b="1" dirty="0">
              <a:latin typeface="+mj-lt"/>
            </a:endParaRPr>
          </a:p>
          <a:p>
            <a:endParaRPr lang="en-US" sz="2400" b="1" dirty="0">
              <a:latin typeface="+mj-lt"/>
            </a:endParaRPr>
          </a:p>
          <a:p>
            <a:endParaRPr lang="en-US" sz="2400" b="1" dirty="0">
              <a:latin typeface="+mj-lt"/>
            </a:endParaRPr>
          </a:p>
          <a:p>
            <a:r>
              <a:rPr lang="en-US" sz="2400" b="1" dirty="0" err="1">
                <a:latin typeface="+mj-lt"/>
              </a:rPr>
              <a:t>Đoạn</a:t>
            </a:r>
            <a:r>
              <a:rPr lang="en-US" sz="2400" b="1" dirty="0">
                <a:latin typeface="+mj-lt"/>
              </a:rPr>
              <a:t> code </a:t>
            </a:r>
            <a:r>
              <a:rPr lang="en-US" sz="2400" b="1" dirty="0" err="1">
                <a:latin typeface="+mj-lt"/>
              </a:rPr>
              <a:t>Tối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ưu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tín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hiệu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kiểm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soát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nhảy</a:t>
            </a:r>
            <a:r>
              <a:rPr lang="en-US" sz="2400" b="1" dirty="0">
                <a:latin typeface="+mj-lt"/>
              </a:rPr>
              <a:t> PC (Verilog)</a:t>
            </a:r>
          </a:p>
          <a:p>
            <a:endParaRPr lang="en-US" sz="2000" b="1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10AB8-735C-7729-06A3-7CAA29AF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636" y="3625328"/>
            <a:ext cx="6660865" cy="1665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81045-06BB-BF1A-B898-EDC09D70A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98" y="5953869"/>
            <a:ext cx="9478142" cy="40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3334</TotalTime>
  <Words>1475</Words>
  <Application>Microsoft Office PowerPoint</Application>
  <PresentationFormat>Widescreen</PresentationFormat>
  <Paragraphs>135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Consolas</vt:lpstr>
      <vt:lpstr>Courier New</vt:lpstr>
      <vt:lpstr>Times New Roman</vt:lpstr>
      <vt:lpstr>Office Theme</vt:lpstr>
      <vt:lpstr>TÌM HIỂU THIẾT KẾ HỆ THỐNG XỬ LÝ ĐA LÕI RISC-V</vt:lpstr>
      <vt:lpstr>Nội dung báo cáo</vt:lpstr>
      <vt:lpstr>TỔNG QUAN ĐỀ TÀI NGHIÊN CỨU</vt:lpstr>
      <vt:lpstr>1. Tổng quan đề tài nghiên cứu</vt:lpstr>
      <vt:lpstr>1. Tổng quan đề tài nghiên cứu</vt:lpstr>
      <vt:lpstr>GIẢI PHÁP ĐỀ XUẤT CỦA ĐỀ TÀI</vt:lpstr>
      <vt:lpstr>2. Giải pháp đề xuất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QUẢ CỦA GIẢI PHÁP ĐỀ XUẤT</vt:lpstr>
      <vt:lpstr>3. Kết quả của giải pháp</vt:lpstr>
      <vt:lpstr>3. Kết quả của giải pháp</vt:lpstr>
      <vt:lpstr>3. Kết quả của giải pháp</vt:lpstr>
      <vt:lpstr>KẾT LUẬN VÀ HƯỚNG PHÁT TRIỂN CỦA ĐỀ TÀI</vt:lpstr>
      <vt:lpstr>PowerPoint Presentation</vt:lpstr>
      <vt:lpstr>PowerPoint Presentation</vt:lpstr>
      <vt:lpstr>Tài liệu tham khảo</vt:lpstr>
      <vt:lpstr>HỎI VÀ ĐÁP</vt:lpstr>
      <vt:lpstr>Phụ lục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/>
  <dc:description>9Slide.vn</dc:description>
  <cp:lastModifiedBy>Nguyễn Đình Nhật Nguyên</cp:lastModifiedBy>
  <cp:revision>655</cp:revision>
  <dcterms:created xsi:type="dcterms:W3CDTF">2022-06-26T12:27:32Z</dcterms:created>
  <dcterms:modified xsi:type="dcterms:W3CDTF">2026-06-19T14:54:20Z</dcterms:modified>
  <cp:category>9Slide.vn</cp:category>
</cp:coreProperties>
</file>